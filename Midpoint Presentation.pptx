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1" r:id="rId1"/>
    <p:sldMasterId id="2147483672" r:id="rId2"/>
    <p:sldMasterId id="2147483673" r:id="rId3"/>
  </p:sldMasterIdLst>
  <p:notesMasterIdLst>
    <p:notesMasterId r:id="rId18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78" r:id="rId13"/>
    <p:sldId id="292" r:id="rId14"/>
    <p:sldId id="298" r:id="rId15"/>
    <p:sldId id="310" r:id="rId16"/>
    <p:sldId id="299" r:id="rId17"/>
  </p:sldIdLst>
  <p:sldSz cx="9144000" cy="5143500" type="screen16x9"/>
  <p:notesSz cx="7315200" cy="9601200"/>
  <p:embeddedFontLst>
    <p:embeddedFont>
      <p:font typeface="Alegreya" panose="020B0604020202020204" charset="0"/>
      <p:regular r:id="rId19"/>
      <p:bold r:id="rId20"/>
      <p:italic r:id="rId21"/>
      <p:boldItalic r:id="rId22"/>
    </p:embeddedFont>
    <p:embeddedFont>
      <p:font typeface="Alegreya Sans" panose="020B0604020202020204" charset="0"/>
      <p:regular r:id="rId23"/>
      <p:bold r:id="rId24"/>
      <p:italic r:id="rId25"/>
      <p:boldItalic r:id="rId26"/>
    </p:embeddedFont>
    <p:embeddedFont>
      <p:font typeface="Montserrat" panose="000005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2" d="100"/>
          <a:sy n="132" d="100"/>
        </p:scale>
        <p:origin x="132" y="22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Master" Target="slideMasters/slideMaster3.xml"/><Relationship Id="rId21" Type="http://schemas.openxmlformats.org/officeDocument/2006/relationships/font" Target="fonts/font3.fntdata"/><Relationship Id="rId34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7.fntdata"/><Relationship Id="rId33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6.fntdata"/><Relationship Id="rId32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10" Type="http://schemas.openxmlformats.org/officeDocument/2006/relationships/slide" Target="slides/slide7.xml"/><Relationship Id="rId19" Type="http://schemas.openxmlformats.org/officeDocument/2006/relationships/font" Target="fonts/font1.fntdata"/><Relationship Id="rId31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8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96645" rIns="96645" bIns="9664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ccc7d709d8_0_2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ccc7d709d8_0_25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ccc7d709d8_0_2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ccc7d709d8_0_265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cc7d709d8_0_2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cc7d709d8_0_27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e506aec76_3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e506aec76_3_16:notes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38" name="Google Shape;138;g3ce506aec76_3_16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e506aec76_3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ce506aec76_3_47:notes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169" name="Google Shape;169;g3ce506aec76_3_47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e506aec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e506aec76_0_0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e506aec76_3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2" name="Google Shape;212;g3ce506aec76_3_86:notes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13" name="Google Shape;213;g3ce506aec76_3_86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ce506aec76_3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997075" y="1200150"/>
            <a:ext cx="5759450" cy="32400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2" name="Google Shape;262;g3ce506aec76_3_136:notes"/>
          <p:cNvSpPr txBox="1">
            <a:spLocks noGrp="1"/>
          </p:cNvSpPr>
          <p:nvPr>
            <p:ph type="body" idx="1"/>
          </p:nvPr>
        </p:nvSpPr>
        <p:spPr>
          <a:xfrm>
            <a:off x="975360" y="4620577"/>
            <a:ext cx="7802880" cy="3780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  <p:sp>
        <p:nvSpPr>
          <p:cNvPr id="263" name="Google Shape;263;g3ce506aec76_3_136:notes"/>
          <p:cNvSpPr txBox="1">
            <a:spLocks noGrp="1"/>
          </p:cNvSpPr>
          <p:nvPr>
            <p:ph type="sldNum" idx="12"/>
          </p:nvPr>
        </p:nvSpPr>
        <p:spPr>
          <a:xfrm>
            <a:off x="5524783" y="9119474"/>
            <a:ext cx="4226560" cy="4817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645" tIns="48309" rIns="96645" bIns="48309" anchor="b" anchorCtr="0">
            <a:noAutofit/>
          </a:bodyPr>
          <a:lstStyle/>
          <a:p>
            <a:pPr algn="r"/>
            <a:fld id="{00000000-1234-1234-1234-123412341234}" type="slidenum">
              <a:rPr lang="en"/>
              <a:pPr algn="r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e506aec7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57200" y="720725"/>
            <a:ext cx="64008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ce506aec76_0_4:notes"/>
          <p:cNvSpPr txBox="1">
            <a:spLocks noGrp="1"/>
          </p:cNvSpPr>
          <p:nvPr>
            <p:ph type="body" idx="1"/>
          </p:nvPr>
        </p:nvSpPr>
        <p:spPr>
          <a:xfrm>
            <a:off x="731520" y="4560570"/>
            <a:ext cx="5852160" cy="4320540"/>
          </a:xfrm>
          <a:prstGeom prst="rect">
            <a:avLst/>
          </a:prstGeom>
        </p:spPr>
        <p:txBody>
          <a:bodyPr spcFirstLastPara="1" wrap="square" lIns="96645" tIns="96645" rIns="96645" bIns="96645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73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YC Google Slide Templat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0" y="1645350"/>
            <a:ext cx="8520600" cy="11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Font typeface="Alegreya"/>
              <a:buNone/>
              <a:defRPr sz="5200" i="1">
                <a:latin typeface="Alegreya"/>
                <a:ea typeface="Alegreya"/>
                <a:cs typeface="Alegreya"/>
                <a:sym typeface="Alegrey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egreya Sans"/>
              <a:buNone/>
              <a:defRPr sz="2800"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8" name="Google Shape;5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378037" y="1174075"/>
            <a:ext cx="387919" cy="393600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4"/>
          <p:cNvSpPr/>
          <p:nvPr/>
        </p:nvSpPr>
        <p:spPr>
          <a:xfrm>
            <a:off x="0" y="0"/>
            <a:ext cx="9144000" cy="86100"/>
          </a:xfrm>
          <a:prstGeom prst="rect">
            <a:avLst/>
          </a:prstGeom>
          <a:solidFill>
            <a:srgbClr val="D17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4"/>
          <p:cNvSpPr/>
          <p:nvPr/>
        </p:nvSpPr>
        <p:spPr>
          <a:xfrm>
            <a:off x="0" y="5056825"/>
            <a:ext cx="9144000" cy="86100"/>
          </a:xfrm>
          <a:prstGeom prst="rect">
            <a:avLst/>
          </a:prstGeom>
          <a:solidFill>
            <a:srgbClr val="D17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726" y="4815623"/>
            <a:ext cx="1724476" cy="236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0" y="0"/>
            <a:ext cx="67200" cy="5143500"/>
          </a:xfrm>
          <a:prstGeom prst="rect">
            <a:avLst/>
          </a:prstGeom>
          <a:solidFill>
            <a:srgbClr val="D17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6" name="Google Shape;66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5252" y="86675"/>
            <a:ext cx="265900" cy="2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Font typeface="Alegreya Sans"/>
              <a:buChar char="●"/>
              <a:defRPr>
                <a:latin typeface="Alegreya Sans"/>
                <a:ea typeface="Alegreya Sans"/>
                <a:cs typeface="Alegreya Sans"/>
                <a:sym typeface="Alegreya Sans"/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○"/>
              <a:defRPr>
                <a:latin typeface="Alegreya Sans"/>
                <a:ea typeface="Alegreya Sans"/>
                <a:cs typeface="Alegreya Sans"/>
                <a:sym typeface="Alegreya Sans"/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■"/>
              <a:defRPr>
                <a:latin typeface="Alegreya Sans"/>
                <a:ea typeface="Alegreya Sans"/>
                <a:cs typeface="Alegreya Sans"/>
                <a:sym typeface="Alegreya Sans"/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●"/>
              <a:defRPr>
                <a:latin typeface="Alegreya Sans"/>
                <a:ea typeface="Alegreya Sans"/>
                <a:cs typeface="Alegreya Sans"/>
                <a:sym typeface="Alegreya Sans"/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○"/>
              <a:defRPr>
                <a:latin typeface="Alegreya Sans"/>
                <a:ea typeface="Alegreya Sans"/>
                <a:cs typeface="Alegreya Sans"/>
                <a:sym typeface="Alegreya Sans"/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■"/>
              <a:defRPr>
                <a:latin typeface="Alegreya Sans"/>
                <a:ea typeface="Alegreya Sans"/>
                <a:cs typeface="Alegreya Sans"/>
                <a:sym typeface="Alegreya Sans"/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●"/>
              <a:defRPr>
                <a:latin typeface="Alegreya Sans"/>
                <a:ea typeface="Alegreya Sans"/>
                <a:cs typeface="Alegreya Sans"/>
                <a:sym typeface="Alegreya Sans"/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○"/>
              <a:defRPr>
                <a:latin typeface="Alegreya Sans"/>
                <a:ea typeface="Alegreya Sans"/>
                <a:cs typeface="Alegreya Sans"/>
                <a:sym typeface="Alegreya Sans"/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Font typeface="Alegreya Sans"/>
              <a:buChar char="■"/>
              <a:defRPr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1" name="Google Shape;71;p16"/>
          <p:cNvSpPr/>
          <p:nvPr/>
        </p:nvSpPr>
        <p:spPr>
          <a:xfrm>
            <a:off x="0" y="0"/>
            <a:ext cx="67200" cy="5143500"/>
          </a:xfrm>
          <a:prstGeom prst="rect">
            <a:avLst/>
          </a:prstGeom>
          <a:solidFill>
            <a:srgbClr val="D17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5252" y="86675"/>
            <a:ext cx="265900" cy="2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Alegreya Sans"/>
              <a:buChar char="●"/>
              <a:defRPr sz="1400">
                <a:latin typeface="Alegreya Sans"/>
                <a:ea typeface="Alegreya Sans"/>
                <a:cs typeface="Alegreya Sans"/>
                <a:sym typeface="Alegreya Sans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○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■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●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○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■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●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○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Alegreya Sans"/>
              <a:buChar char="■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Font typeface="Alegreya Sans"/>
              <a:buChar char="●"/>
              <a:defRPr sz="1400">
                <a:latin typeface="Alegreya Sans"/>
                <a:ea typeface="Alegreya Sans"/>
                <a:cs typeface="Alegreya Sans"/>
                <a:sym typeface="Alegreya Sans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○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■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●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○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■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●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○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Alegreya Sans"/>
              <a:buChar char="■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7"/>
          <p:cNvSpPr/>
          <p:nvPr/>
        </p:nvSpPr>
        <p:spPr>
          <a:xfrm>
            <a:off x="0" y="0"/>
            <a:ext cx="67200" cy="5143500"/>
          </a:xfrm>
          <a:prstGeom prst="rect">
            <a:avLst/>
          </a:prstGeom>
          <a:solidFill>
            <a:srgbClr val="D17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9" name="Google Shape;79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5252" y="86675"/>
            <a:ext cx="265900" cy="2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3" name="Google Shape;83;p18"/>
          <p:cNvSpPr/>
          <p:nvPr/>
        </p:nvSpPr>
        <p:spPr>
          <a:xfrm>
            <a:off x="0" y="0"/>
            <a:ext cx="67200" cy="5143500"/>
          </a:xfrm>
          <a:prstGeom prst="rect">
            <a:avLst/>
          </a:prstGeom>
          <a:solidFill>
            <a:srgbClr val="D17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5252" y="86675"/>
            <a:ext cx="265900" cy="2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Font typeface="Alegreya Sans"/>
              <a:buChar char="●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○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■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●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○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■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●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Font typeface="Alegreya Sans"/>
              <a:buChar char="○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Font typeface="Alegreya Sans"/>
              <a:buChar char="■"/>
              <a:defRPr sz="1200"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9" name="Google Shape;89;p19"/>
          <p:cNvSpPr/>
          <p:nvPr/>
        </p:nvSpPr>
        <p:spPr>
          <a:xfrm>
            <a:off x="0" y="0"/>
            <a:ext cx="67200" cy="5143500"/>
          </a:xfrm>
          <a:prstGeom prst="rect">
            <a:avLst/>
          </a:prstGeom>
          <a:solidFill>
            <a:srgbClr val="D17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0" name="Google Shape;90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5252" y="86675"/>
            <a:ext cx="265900" cy="2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 i="1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4" name="Google Shape;94;p20"/>
          <p:cNvSpPr/>
          <p:nvPr/>
        </p:nvSpPr>
        <p:spPr>
          <a:xfrm>
            <a:off x="0" y="0"/>
            <a:ext cx="67200" cy="5143500"/>
          </a:xfrm>
          <a:prstGeom prst="rect">
            <a:avLst/>
          </a:prstGeom>
          <a:solidFill>
            <a:srgbClr val="D17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5" name="Google Shape;95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5252" y="86675"/>
            <a:ext cx="265900" cy="2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 i="1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99" name="Google Shape;99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Alegreya Sans"/>
              <a:buNone/>
              <a:defRPr sz="2100">
                <a:latin typeface="Alegreya Sans"/>
                <a:ea typeface="Alegreya Sans"/>
                <a:cs typeface="Alegreya Sans"/>
                <a:sym typeface="Alegreya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100" name="Google Shape;100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21"/>
          <p:cNvSpPr/>
          <p:nvPr/>
        </p:nvSpPr>
        <p:spPr>
          <a:xfrm>
            <a:off x="4572000" y="0"/>
            <a:ext cx="67200" cy="5143500"/>
          </a:xfrm>
          <a:prstGeom prst="rect">
            <a:avLst/>
          </a:prstGeom>
          <a:solidFill>
            <a:srgbClr val="D17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legreya Sans"/>
              <a:buNone/>
              <a:defRPr>
                <a:latin typeface="Alegreya Sans"/>
                <a:ea typeface="Alegreya Sans"/>
                <a:cs typeface="Alegreya Sans"/>
                <a:sym typeface="Alegreya Sans"/>
              </a:defRPr>
            </a:lvl1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6" name="Google Shape;106;p22"/>
          <p:cNvSpPr/>
          <p:nvPr/>
        </p:nvSpPr>
        <p:spPr>
          <a:xfrm>
            <a:off x="0" y="0"/>
            <a:ext cx="67200" cy="5143500"/>
          </a:xfrm>
          <a:prstGeom prst="rect">
            <a:avLst/>
          </a:prstGeom>
          <a:solidFill>
            <a:srgbClr val="D17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7" name="Google Shape;107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755252" y="86675"/>
            <a:ext cx="265900" cy="269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 i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0" name="Google Shape;110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Font typeface="Alegreya Sans"/>
              <a:buChar char="●"/>
              <a:defRPr>
                <a:latin typeface="Alegreya Sans"/>
                <a:ea typeface="Alegreya Sans"/>
                <a:cs typeface="Alegreya Sans"/>
                <a:sym typeface="Alegreya Sans"/>
              </a:defRPr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○"/>
              <a:defRPr>
                <a:latin typeface="Alegreya Sans"/>
                <a:ea typeface="Alegreya Sans"/>
                <a:cs typeface="Alegreya Sans"/>
                <a:sym typeface="Alegreya Sans"/>
              </a:defRPr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■"/>
              <a:defRPr>
                <a:latin typeface="Alegreya Sans"/>
                <a:ea typeface="Alegreya Sans"/>
                <a:cs typeface="Alegreya Sans"/>
                <a:sym typeface="Alegreya Sans"/>
              </a:defRPr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●"/>
              <a:defRPr>
                <a:latin typeface="Alegreya Sans"/>
                <a:ea typeface="Alegreya Sans"/>
                <a:cs typeface="Alegreya Sans"/>
                <a:sym typeface="Alegreya Sans"/>
              </a:defRPr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○"/>
              <a:defRPr>
                <a:latin typeface="Alegreya Sans"/>
                <a:ea typeface="Alegreya Sans"/>
                <a:cs typeface="Alegreya Sans"/>
                <a:sym typeface="Alegreya Sans"/>
              </a:defRPr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■"/>
              <a:defRPr>
                <a:latin typeface="Alegreya Sans"/>
                <a:ea typeface="Alegreya Sans"/>
                <a:cs typeface="Alegreya Sans"/>
                <a:sym typeface="Alegreya Sans"/>
              </a:defRPr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●"/>
              <a:defRPr>
                <a:latin typeface="Alegreya Sans"/>
                <a:ea typeface="Alegreya Sans"/>
                <a:cs typeface="Alegreya Sans"/>
                <a:sym typeface="Alegreya Sans"/>
              </a:defRPr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Font typeface="Alegreya Sans"/>
              <a:buChar char="○"/>
              <a:defRPr>
                <a:latin typeface="Alegreya Sans"/>
                <a:ea typeface="Alegreya Sans"/>
                <a:cs typeface="Alegreya Sans"/>
                <a:sym typeface="Alegreya Sans"/>
              </a:defRPr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Font typeface="Alegreya Sans"/>
              <a:buChar char="■"/>
              <a:defRPr>
                <a:latin typeface="Alegreya Sans"/>
                <a:ea typeface="Alegreya Sans"/>
                <a:cs typeface="Alegreya Sans"/>
                <a:sym typeface="Alegreya Sans"/>
              </a:defRPr>
            </a:lvl9pPr>
          </a:lstStyle>
          <a:p>
            <a:endParaRPr/>
          </a:p>
        </p:txBody>
      </p:sp>
      <p:sp>
        <p:nvSpPr>
          <p:cNvPr id="111" name="Google Shape;111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23"/>
          <p:cNvSpPr/>
          <p:nvPr/>
        </p:nvSpPr>
        <p:spPr>
          <a:xfrm>
            <a:off x="0" y="0"/>
            <a:ext cx="67200" cy="5143500"/>
          </a:xfrm>
          <a:prstGeom prst="rect">
            <a:avLst/>
          </a:prstGeom>
          <a:solidFill>
            <a:srgbClr val="D17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5" name="Google Shape;115;p24"/>
          <p:cNvSpPr/>
          <p:nvPr/>
        </p:nvSpPr>
        <p:spPr>
          <a:xfrm>
            <a:off x="0" y="0"/>
            <a:ext cx="67200" cy="5143500"/>
          </a:xfrm>
          <a:prstGeom prst="rect">
            <a:avLst/>
          </a:prstGeom>
          <a:solidFill>
            <a:srgbClr val="D1735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24386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legreya"/>
              <a:buNone/>
              <a:defRPr sz="2800">
                <a:solidFill>
                  <a:schemeClr val="dk1"/>
                </a:solidFill>
                <a:latin typeface="Alegreya"/>
                <a:ea typeface="Alegreya"/>
                <a:cs typeface="Alegreya"/>
                <a:sym typeface="Alegrey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3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7"/>
          <p:cNvSpPr txBox="1">
            <a:spLocks noGrp="1"/>
          </p:cNvSpPr>
          <p:nvPr>
            <p:ph type="ctrTitle"/>
          </p:nvPr>
        </p:nvSpPr>
        <p:spPr>
          <a:xfrm>
            <a:off x="311700" y="1645350"/>
            <a:ext cx="8520600" cy="115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Fruition Technologies</a:t>
            </a:r>
            <a:endParaRPr/>
          </a:p>
        </p:txBody>
      </p:sp>
      <p:sp>
        <p:nvSpPr>
          <p:cNvPr id="123" name="Google Shape;123;p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  <p:sp>
        <p:nvSpPr>
          <p:cNvPr id="129" name="Google Shape;129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9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6000"/>
              <a:t>MODEL RESEARCH</a:t>
            </a:r>
            <a:endParaRPr sz="6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38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30"/>
          <p:cNvSpPr/>
          <p:nvPr/>
        </p:nvSpPr>
        <p:spPr>
          <a:xfrm>
            <a:off x="274320" y="457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Model Research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0"/>
          <p:cNvSpPr/>
          <p:nvPr/>
        </p:nvSpPr>
        <p:spPr>
          <a:xfrm>
            <a:off x="274320" y="822960"/>
            <a:ext cx="859536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30"/>
          <p:cNvSpPr/>
          <p:nvPr/>
        </p:nvSpPr>
        <p:spPr>
          <a:xfrm>
            <a:off x="320040" y="841248"/>
            <a:ext cx="8503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Objective: Identify the optimal AI model for real-time Canadian Geese detection to trigger a laser deterrent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0"/>
          <p:cNvSpPr/>
          <p:nvPr/>
        </p:nvSpPr>
        <p:spPr>
          <a:xfrm>
            <a:off x="274320" y="1417320"/>
            <a:ext cx="27432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30"/>
          <p:cNvSpPr/>
          <p:nvPr/>
        </p:nvSpPr>
        <p:spPr>
          <a:xfrm>
            <a:off x="274320" y="1417320"/>
            <a:ext cx="2743200" cy="5029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30"/>
          <p:cNvSpPr/>
          <p:nvPr/>
        </p:nvSpPr>
        <p:spPr>
          <a:xfrm>
            <a:off x="365760" y="14356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YOLOv11-Nano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0"/>
          <p:cNvSpPr/>
          <p:nvPr/>
        </p:nvSpPr>
        <p:spPr>
          <a:xfrm>
            <a:off x="365760" y="171907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Edge AI Speedster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0"/>
          <p:cNvSpPr/>
          <p:nvPr/>
        </p:nvSpPr>
        <p:spPr>
          <a:xfrm>
            <a:off x="365760" y="2011680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Grid-based detection optimized for edge hardware. Ultra-fast single-shot detection (&lt;10ms). Best for open environments.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30"/>
          <p:cNvSpPr/>
          <p:nvPr/>
        </p:nvSpPr>
        <p:spPr>
          <a:xfrm>
            <a:off x="365760" y="4480560"/>
            <a:ext cx="1463040" cy="256032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30"/>
          <p:cNvSpPr/>
          <p:nvPr/>
        </p:nvSpPr>
        <p:spPr>
          <a:xfrm>
            <a:off x="365760" y="44805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Fastest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0"/>
          <p:cNvSpPr/>
          <p:nvPr/>
        </p:nvSpPr>
        <p:spPr>
          <a:xfrm>
            <a:off x="3154680" y="1417320"/>
            <a:ext cx="27432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30"/>
          <p:cNvSpPr/>
          <p:nvPr/>
        </p:nvSpPr>
        <p:spPr>
          <a:xfrm>
            <a:off x="3154680" y="1417320"/>
            <a:ext cx="2743200" cy="50292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30"/>
          <p:cNvSpPr/>
          <p:nvPr/>
        </p:nvSpPr>
        <p:spPr>
          <a:xfrm>
            <a:off x="3246120" y="14356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RF-DETR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0"/>
          <p:cNvSpPr/>
          <p:nvPr/>
        </p:nvSpPr>
        <p:spPr>
          <a:xfrm>
            <a:off x="3246120" y="171907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 Precision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30"/>
          <p:cNvSpPr/>
          <p:nvPr/>
        </p:nvSpPr>
        <p:spPr>
          <a:xfrm>
            <a:off x="3246120" y="2011680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Processes entire image for global context. Excels in cluttered environments (tall grass). Eliminates post-processing latency.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0"/>
          <p:cNvSpPr/>
          <p:nvPr/>
        </p:nvSpPr>
        <p:spPr>
          <a:xfrm>
            <a:off x="3246120" y="4480560"/>
            <a:ext cx="1463040" cy="256032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30"/>
          <p:cNvSpPr/>
          <p:nvPr/>
        </p:nvSpPr>
        <p:spPr>
          <a:xfrm>
            <a:off x="3246120" y="44805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Most Accurate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0"/>
          <p:cNvSpPr/>
          <p:nvPr/>
        </p:nvSpPr>
        <p:spPr>
          <a:xfrm>
            <a:off x="6035040" y="1417320"/>
            <a:ext cx="2743200" cy="338328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762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30"/>
          <p:cNvSpPr/>
          <p:nvPr/>
        </p:nvSpPr>
        <p:spPr>
          <a:xfrm>
            <a:off x="6035040" y="1417320"/>
            <a:ext cx="2743200" cy="5029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0"/>
          <p:cNvSpPr/>
          <p:nvPr/>
        </p:nvSpPr>
        <p:spPr>
          <a:xfrm>
            <a:off x="6126480" y="1435608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EfficientDet-D0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0"/>
          <p:cNvSpPr/>
          <p:nvPr/>
        </p:nvSpPr>
        <p:spPr>
          <a:xfrm>
            <a:off x="6126480" y="1719072"/>
            <a:ext cx="25603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Balanced Performer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30"/>
          <p:cNvSpPr/>
          <p:nvPr/>
        </p:nvSpPr>
        <p:spPr>
          <a:xfrm>
            <a:off x="6126480" y="2011680"/>
            <a:ext cx="256032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Google's BiFPN architecture balances speed + precision. Detects small targets (goose head at 50m+). Ideal for varied distances.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0"/>
          <p:cNvSpPr/>
          <p:nvPr/>
        </p:nvSpPr>
        <p:spPr>
          <a:xfrm>
            <a:off x="6126480" y="4480560"/>
            <a:ext cx="1463040" cy="256032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30"/>
          <p:cNvSpPr/>
          <p:nvPr/>
        </p:nvSpPr>
        <p:spPr>
          <a:xfrm>
            <a:off x="6126480" y="448056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Best Balance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0"/>
          <p:cNvSpPr/>
          <p:nvPr/>
        </p:nvSpPr>
        <p:spPr>
          <a:xfrm>
            <a:off x="274320" y="4846320"/>
            <a:ext cx="859536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Also evaluated: Hybrid (Motion + AWS Bedrock), SSD Single Shot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38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31"/>
          <p:cNvSpPr/>
          <p:nvPr/>
        </p:nvSpPr>
        <p:spPr>
          <a:xfrm>
            <a:off x="274320" y="457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 Model Recommendation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31"/>
          <p:cNvSpPr/>
          <p:nvPr/>
        </p:nvSpPr>
        <p:spPr>
          <a:xfrm>
            <a:off x="274320" y="804672"/>
            <a:ext cx="859536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31"/>
          <p:cNvSpPr/>
          <p:nvPr/>
        </p:nvSpPr>
        <p:spPr>
          <a:xfrm>
            <a:off x="274320" y="804672"/>
            <a:ext cx="109728" cy="187452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31"/>
          <p:cNvSpPr/>
          <p:nvPr/>
        </p:nvSpPr>
        <p:spPr>
          <a:xfrm>
            <a:off x="502920" y="868680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Primary: Open Field / Close Range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1"/>
          <p:cNvSpPr/>
          <p:nvPr/>
        </p:nvSpPr>
        <p:spPr>
          <a:xfrm>
            <a:off x="502920" y="1060704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900"/>
              <a:buFont typeface="Calibri"/>
              <a:buNone/>
            </a:pPr>
            <a:r>
              <a:rPr lang="en" sz="19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YOLOv11-Nano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31"/>
          <p:cNvSpPr/>
          <p:nvPr/>
        </p:nvSpPr>
        <p:spPr>
          <a:xfrm>
            <a:off x="502920" y="1408176"/>
            <a:ext cx="44805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Unmatched real-time speed on edge hardware. Sub-10ms response time ensures immediate laser trigger. Designed for low-power devices like the Jetson Orin Nano.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8" name="Google Shape;178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6360" y="142646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1"/>
          <p:cNvSpPr/>
          <p:nvPr/>
        </p:nvSpPr>
        <p:spPr>
          <a:xfrm>
            <a:off x="5394960" y="140817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Ultra-fast (&lt;10ms) – best for active deterrence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0" name="Google Shape;180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6360" y="169164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31"/>
          <p:cNvSpPr/>
          <p:nvPr/>
        </p:nvSpPr>
        <p:spPr>
          <a:xfrm>
            <a:off x="5394960" y="167335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Runs natively on edge hardware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6360" y="19568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1"/>
          <p:cNvSpPr/>
          <p:nvPr/>
        </p:nvSpPr>
        <p:spPr>
          <a:xfrm>
            <a:off x="5394960" y="193852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Easy to fine-tune with custom goose data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6360" y="22219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31"/>
          <p:cNvSpPr/>
          <p:nvPr/>
        </p:nvSpPr>
        <p:spPr>
          <a:xfrm>
            <a:off x="5394960" y="220370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Lower accuracy on tiny distant targets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6" name="Google Shape;186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6360" y="24871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31"/>
          <p:cNvSpPr/>
          <p:nvPr/>
        </p:nvSpPr>
        <p:spPr>
          <a:xfrm>
            <a:off x="5394960" y="246888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Needs 500+ action shot training images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1"/>
          <p:cNvSpPr/>
          <p:nvPr/>
        </p:nvSpPr>
        <p:spPr>
          <a:xfrm>
            <a:off x="274320" y="2798064"/>
            <a:ext cx="8595360" cy="187452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31"/>
          <p:cNvSpPr/>
          <p:nvPr/>
        </p:nvSpPr>
        <p:spPr>
          <a:xfrm>
            <a:off x="274320" y="2798064"/>
            <a:ext cx="109728" cy="1874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31"/>
          <p:cNvSpPr/>
          <p:nvPr/>
        </p:nvSpPr>
        <p:spPr>
          <a:xfrm>
            <a:off x="502920" y="2862072"/>
            <a:ext cx="804672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Alternative: Long Distance / Complex Terrain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31"/>
          <p:cNvSpPr/>
          <p:nvPr/>
        </p:nvSpPr>
        <p:spPr>
          <a:xfrm>
            <a:off x="502920" y="3054096"/>
            <a:ext cx="80467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900"/>
              <a:buFont typeface="Calibri"/>
              <a:buNone/>
            </a:pPr>
            <a:r>
              <a:rPr lang="en" sz="19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EfficientDet-D0</a:t>
            </a:r>
            <a:endParaRPr sz="1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31"/>
          <p:cNvSpPr/>
          <p:nvPr/>
        </p:nvSpPr>
        <p:spPr>
          <a:xfrm>
            <a:off x="502920" y="3401568"/>
            <a:ext cx="448056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50"/>
              <a:buFont typeface="Calibri"/>
              <a:buNone/>
            </a:pPr>
            <a:r>
              <a:rPr lang="en" sz="105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Google's BiFPN architecture simultaneously detects fine details (goose head at 50m) and large shapes. Ideal for lakefront or long-range deployments.</a:t>
            </a:r>
            <a:endParaRPr sz="10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6360" y="341985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1"/>
          <p:cNvSpPr/>
          <p:nvPr/>
        </p:nvSpPr>
        <p:spPr>
          <a:xfrm>
            <a:off x="5394960" y="3401568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High precision at 50m+ distances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6360" y="368503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1"/>
          <p:cNvSpPr/>
          <p:nvPr/>
        </p:nvSpPr>
        <p:spPr>
          <a:xfrm>
            <a:off x="5394960" y="3666744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Handles partial visibility &amp; varied terrain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7" name="Google Shape;197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66360" y="395020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31"/>
          <p:cNvSpPr/>
          <p:nvPr/>
        </p:nvSpPr>
        <p:spPr>
          <a:xfrm>
            <a:off x="5394960" y="3931920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Strong balance of speed and accuracy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9" name="Google Shape;199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6360" y="42153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31"/>
          <p:cNvSpPr/>
          <p:nvPr/>
        </p:nvSpPr>
        <p:spPr>
          <a:xfrm>
            <a:off x="5394960" y="4197096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Requires model quantization for edge speed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1" name="Google Shape;201;p3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66360" y="4480560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1"/>
          <p:cNvSpPr/>
          <p:nvPr/>
        </p:nvSpPr>
        <p:spPr>
          <a:xfrm>
            <a:off x="5394960" y="4462272"/>
            <a:ext cx="329184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More complex setup than YOLO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1"/>
          <p:cNvSpPr/>
          <p:nvPr/>
        </p:nvSpPr>
        <p:spPr>
          <a:xfrm>
            <a:off x="274320" y="4709160"/>
            <a:ext cx="8595360" cy="320040"/>
          </a:xfrm>
          <a:prstGeom prst="rect">
            <a:avLst/>
          </a:prstGeom>
          <a:solidFill>
            <a:srgbClr val="FFF3C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31"/>
          <p:cNvSpPr/>
          <p:nvPr/>
        </p:nvSpPr>
        <p:spPr>
          <a:xfrm>
            <a:off x="365760" y="4736592"/>
            <a:ext cx="84124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64D03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664D03"/>
                </a:solidFill>
                <a:latin typeface="Calibri"/>
                <a:ea typeface="Calibri"/>
                <a:cs typeface="Calibri"/>
                <a:sym typeface="Calibri"/>
              </a:rPr>
              <a:t>Note: RF-DETR excels in marshy/cluttered environments but requires more compute. Recommend evaluating if geese hide in tall grass.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2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6000"/>
              <a:t>HARDWARE RESEARCH</a:t>
            </a:r>
            <a:endParaRPr sz="60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3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38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33"/>
          <p:cNvSpPr/>
          <p:nvPr/>
        </p:nvSpPr>
        <p:spPr>
          <a:xfrm>
            <a:off x="274320" y="457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Research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33"/>
          <p:cNvSpPr/>
          <p:nvPr/>
        </p:nvSpPr>
        <p:spPr>
          <a:xfrm>
            <a:off x="274320" y="822960"/>
            <a:ext cx="8595360" cy="438912"/>
          </a:xfrm>
          <a:prstGeom prst="rect">
            <a:avLst/>
          </a:prstGeom>
          <a:solidFill>
            <a:srgbClr val="2438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33"/>
          <p:cNvSpPr/>
          <p:nvPr/>
        </p:nvSpPr>
        <p:spPr>
          <a:xfrm>
            <a:off x="411490" y="832098"/>
            <a:ext cx="8503800" cy="39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Objective: Select hardware capable of real-time AI inference for geese detection at multiple distances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3"/>
          <p:cNvSpPr/>
          <p:nvPr/>
        </p:nvSpPr>
        <p:spPr>
          <a:xfrm>
            <a:off x="274320" y="1353312"/>
            <a:ext cx="1600200" cy="5943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33"/>
          <p:cNvSpPr/>
          <p:nvPr/>
        </p:nvSpPr>
        <p:spPr>
          <a:xfrm>
            <a:off x="274320" y="1380763"/>
            <a:ext cx="1600200" cy="54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Real-Time Inference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3"/>
          <p:cNvSpPr/>
          <p:nvPr/>
        </p:nvSpPr>
        <p:spPr>
          <a:xfrm>
            <a:off x="1993392" y="1353312"/>
            <a:ext cx="1600200" cy="5943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33"/>
          <p:cNvSpPr/>
          <p:nvPr/>
        </p:nvSpPr>
        <p:spPr>
          <a:xfrm>
            <a:off x="1993392" y="137160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Power Efficiency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3"/>
          <p:cNvSpPr/>
          <p:nvPr/>
        </p:nvSpPr>
        <p:spPr>
          <a:xfrm>
            <a:off x="3712464" y="1353312"/>
            <a:ext cx="1600200" cy="5943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33"/>
          <p:cNvSpPr/>
          <p:nvPr/>
        </p:nvSpPr>
        <p:spPr>
          <a:xfrm>
            <a:off x="3712464" y="137160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Cost Efficiency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3"/>
          <p:cNvSpPr/>
          <p:nvPr/>
        </p:nvSpPr>
        <p:spPr>
          <a:xfrm>
            <a:off x="5431536" y="1353312"/>
            <a:ext cx="1600200" cy="5943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33"/>
          <p:cNvSpPr/>
          <p:nvPr/>
        </p:nvSpPr>
        <p:spPr>
          <a:xfrm>
            <a:off x="5431536" y="137160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Deployment Suitability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3"/>
          <p:cNvSpPr/>
          <p:nvPr/>
        </p:nvSpPr>
        <p:spPr>
          <a:xfrm>
            <a:off x="7150608" y="1353312"/>
            <a:ext cx="1600200" cy="5943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33"/>
          <p:cNvSpPr/>
          <p:nvPr/>
        </p:nvSpPr>
        <p:spPr>
          <a:xfrm>
            <a:off x="7150608" y="1371600"/>
            <a:ext cx="1600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Camera Compatibility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3"/>
          <p:cNvSpPr/>
          <p:nvPr/>
        </p:nvSpPr>
        <p:spPr>
          <a:xfrm>
            <a:off x="274320" y="2084832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300"/>
              <a:buFont typeface="Calibri"/>
              <a:buNone/>
            </a:pPr>
            <a:r>
              <a:rPr lang="en" sz="13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Computing Platform Options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33"/>
          <p:cNvSpPr/>
          <p:nvPr/>
        </p:nvSpPr>
        <p:spPr>
          <a:xfrm>
            <a:off x="274320" y="2423160"/>
            <a:ext cx="420624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33"/>
          <p:cNvSpPr/>
          <p:nvPr/>
        </p:nvSpPr>
        <p:spPr>
          <a:xfrm>
            <a:off x="274320" y="2423160"/>
            <a:ext cx="4206240" cy="438912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33"/>
          <p:cNvSpPr/>
          <p:nvPr/>
        </p:nvSpPr>
        <p:spPr>
          <a:xfrm>
            <a:off x="365760" y="24505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NVIDIA DGX Spark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3"/>
          <p:cNvSpPr/>
          <p:nvPr/>
        </p:nvSpPr>
        <p:spPr>
          <a:xfrm>
            <a:off x="3108960" y="246888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Not Recommended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3"/>
          <p:cNvSpPr/>
          <p:nvPr/>
        </p:nvSpPr>
        <p:spPr>
          <a:xfrm>
            <a:off x="365760" y="29260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Designed for large AI workloads. High memory and scalability.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34015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3"/>
          <p:cNvSpPr/>
          <p:nvPr/>
        </p:nvSpPr>
        <p:spPr>
          <a:xfrm>
            <a:off x="594360" y="33832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Handles large AI models easily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65760" y="369417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3"/>
          <p:cNvSpPr/>
          <p:nvPr/>
        </p:nvSpPr>
        <p:spPr>
          <a:xfrm>
            <a:off x="594360" y="36758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Easier model development &amp; fine-tuning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9" name="Google Shape;239;p3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39867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33"/>
          <p:cNvSpPr/>
          <p:nvPr/>
        </p:nvSpPr>
        <p:spPr>
          <a:xfrm>
            <a:off x="594360" y="396849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Extremely high cost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1" name="Google Shape;241;p3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426110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3"/>
          <p:cNvSpPr/>
          <p:nvPr/>
        </p:nvSpPr>
        <p:spPr>
          <a:xfrm>
            <a:off x="594360" y="424281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Excessive power consumption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3" name="Google Shape;243;p3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65760" y="45354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33"/>
          <p:cNvSpPr/>
          <p:nvPr/>
        </p:nvSpPr>
        <p:spPr>
          <a:xfrm>
            <a:off x="594360" y="451713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Overkill for this project scope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3"/>
          <p:cNvSpPr/>
          <p:nvPr/>
        </p:nvSpPr>
        <p:spPr>
          <a:xfrm>
            <a:off x="4709160" y="2423160"/>
            <a:ext cx="4206240" cy="25146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10196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33"/>
          <p:cNvSpPr/>
          <p:nvPr/>
        </p:nvSpPr>
        <p:spPr>
          <a:xfrm>
            <a:off x="4709160" y="2423160"/>
            <a:ext cx="4206240" cy="438912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33"/>
          <p:cNvSpPr/>
          <p:nvPr/>
        </p:nvSpPr>
        <p:spPr>
          <a:xfrm>
            <a:off x="4800600" y="2450592"/>
            <a:ext cx="27432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lang="en" sz="12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NVIDIA Jetson Orin Nano Super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3"/>
          <p:cNvSpPr/>
          <p:nvPr/>
        </p:nvSpPr>
        <p:spPr>
          <a:xfrm>
            <a:off x="7543800" y="2468880"/>
            <a:ext cx="12801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lang="en" sz="10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3"/>
          <p:cNvSpPr/>
          <p:nvPr/>
        </p:nvSpPr>
        <p:spPr>
          <a:xfrm>
            <a:off x="4800600" y="2926080"/>
            <a:ext cx="3931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000"/>
              <a:buFont typeface="Calibri"/>
              <a:buNone/>
            </a:pPr>
            <a:r>
              <a:rPr lang="en" sz="10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Purpose-built AI edge kit with real-time inference and camera integration.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0" name="Google Shape;250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34015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33"/>
          <p:cNvSpPr/>
          <p:nvPr/>
        </p:nvSpPr>
        <p:spPr>
          <a:xfrm>
            <a:off x="5029200" y="33832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Built for real-time AI inference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2" name="Google Shape;252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369417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3"/>
          <p:cNvSpPr/>
          <p:nvPr/>
        </p:nvSpPr>
        <p:spPr>
          <a:xfrm>
            <a:off x="5029200" y="367588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Power efficient &amp; compact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800600" y="398678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33"/>
          <p:cNvSpPr/>
          <p:nvPr/>
        </p:nvSpPr>
        <p:spPr>
          <a:xfrm>
            <a:off x="5029200" y="396849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Good scalability for deployment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6" name="Google Shape;256;p3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0600" y="427939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33"/>
          <p:cNvSpPr/>
          <p:nvPr/>
        </p:nvSpPr>
        <p:spPr>
          <a:xfrm>
            <a:off x="5029200" y="426110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Limited RAM (not ideal for very large models)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8" name="Google Shape;258;p3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0600" y="455371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3"/>
          <p:cNvSpPr/>
          <p:nvPr/>
        </p:nvSpPr>
        <p:spPr>
          <a:xfrm>
            <a:off x="5029200" y="453542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Higher cost vs generic boards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4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4386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34"/>
          <p:cNvSpPr/>
          <p:nvPr/>
        </p:nvSpPr>
        <p:spPr>
          <a:xfrm>
            <a:off x="274320" y="457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lang="en" sz="2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Hardware Recommendation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4"/>
          <p:cNvSpPr/>
          <p:nvPr/>
        </p:nvSpPr>
        <p:spPr>
          <a:xfrm>
            <a:off x="274320" y="804672"/>
            <a:ext cx="85953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34"/>
          <p:cNvSpPr/>
          <p:nvPr/>
        </p:nvSpPr>
        <p:spPr>
          <a:xfrm>
            <a:off x="274320" y="804672"/>
            <a:ext cx="109728" cy="19659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9" name="Google Shape;269;p3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" y="87782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4"/>
          <p:cNvSpPr/>
          <p:nvPr/>
        </p:nvSpPr>
        <p:spPr>
          <a:xfrm>
            <a:off x="822960" y="87782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100"/>
              <a:buFont typeface="Calibri"/>
              <a:buNone/>
            </a:pPr>
            <a:r>
              <a:rPr lang="en" sz="11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Computing Platform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457200" y="1188720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Calibri"/>
              <a:buNone/>
            </a:pPr>
            <a:r>
              <a:rPr lang="en" sz="17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NVIDIA Jetson Orin Nano Super Dev Kit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/>
          <p:nvPr/>
        </p:nvSpPr>
        <p:spPr>
          <a:xfrm>
            <a:off x="457200" y="1581912"/>
            <a:ext cx="438912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Purpose-built for real-time AI inference with live camera feeds. Power efficient and deployable in field settings. Sufficient performance for YOLOv11-Nano and EfficientDet-D0 within project scope.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3" name="Google Shape;273;p3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121615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34"/>
          <p:cNvSpPr/>
          <p:nvPr/>
        </p:nvSpPr>
        <p:spPr>
          <a:xfrm>
            <a:off x="5349240" y="118872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Real-time inference optimized for AI Object Tracking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3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156362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34"/>
          <p:cNvSpPr/>
          <p:nvPr/>
        </p:nvSpPr>
        <p:spPr>
          <a:xfrm>
            <a:off x="5349240" y="1536192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Low power draw – suitable for field/battery deployment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7" name="Google Shape;277;p3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191109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34"/>
          <p:cNvSpPr/>
          <p:nvPr/>
        </p:nvSpPr>
        <p:spPr>
          <a:xfrm>
            <a:off x="5349240" y="1883664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Cost-effective vs. DGX Spark at ~$250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p3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20640" y="225856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34"/>
          <p:cNvSpPr/>
          <p:nvPr/>
        </p:nvSpPr>
        <p:spPr>
          <a:xfrm>
            <a:off x="5349240" y="2231136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RAM limited to smaller model sizes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4"/>
          <p:cNvSpPr/>
          <p:nvPr/>
        </p:nvSpPr>
        <p:spPr>
          <a:xfrm>
            <a:off x="457200" y="252374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Alt: NVIDIA DGX Spark — too costly &amp; power-hungry for this use case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4"/>
          <p:cNvSpPr/>
          <p:nvPr/>
        </p:nvSpPr>
        <p:spPr>
          <a:xfrm>
            <a:off x="274320" y="2907792"/>
            <a:ext cx="8595360" cy="19659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63500" dist="25400" dir="8100000" algn="bl" rotWithShape="0">
              <a:srgbClr val="000000">
                <a:alpha val="784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34"/>
          <p:cNvSpPr/>
          <p:nvPr/>
        </p:nvSpPr>
        <p:spPr>
          <a:xfrm>
            <a:off x="274320" y="2907792"/>
            <a:ext cx="109728" cy="1965960"/>
          </a:xfrm>
          <a:prstGeom prst="rect">
            <a:avLst/>
          </a:prstGeom>
          <a:solidFill>
            <a:srgbClr val="40916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4" name="Google Shape;284;p3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7200" y="2980944"/>
            <a:ext cx="292608" cy="292608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4"/>
          <p:cNvSpPr/>
          <p:nvPr/>
        </p:nvSpPr>
        <p:spPr>
          <a:xfrm>
            <a:off x="822960" y="2980944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1100"/>
              <a:buFont typeface="Calibri"/>
              <a:buNone/>
            </a:pPr>
            <a:r>
              <a:rPr lang="en" sz="11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Camera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4"/>
          <p:cNvSpPr/>
          <p:nvPr/>
        </p:nvSpPr>
        <p:spPr>
          <a:xfrm>
            <a:off x="457200" y="3291840"/>
            <a:ext cx="5303520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D1B2A"/>
              </a:buClr>
              <a:buSzPts val="1700"/>
              <a:buFont typeface="Calibri"/>
              <a:buNone/>
            </a:pPr>
            <a:r>
              <a:rPr lang="en" sz="1700" b="1" i="0" u="none" strike="noStrike" cap="none">
                <a:solidFill>
                  <a:srgbClr val="0D1B2A"/>
                </a:solidFill>
                <a:latin typeface="Calibri"/>
                <a:ea typeface="Calibri"/>
                <a:cs typeface="Calibri"/>
                <a:sym typeface="Calibri"/>
              </a:rPr>
              <a:t>Raspberry Pi HQ Camera</a:t>
            </a:r>
            <a:endParaRPr sz="17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457200" y="3685032"/>
            <a:ext cx="4389120" cy="1051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100"/>
              <a:buFont typeface="Calibri"/>
              <a:buNone/>
            </a:pPr>
            <a:r>
              <a:rPr lang="en" sz="11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Interchangeable lens system handles both close-range and long-distance detection. High-res sensor captures small targets (geese) in varying lighting conditions.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p3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3319272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4"/>
          <p:cNvSpPr/>
          <p:nvPr/>
        </p:nvSpPr>
        <p:spPr>
          <a:xfrm>
            <a:off x="5349240" y="3291840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Multiple lens options for varying detection distances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0" name="Google Shape;290;p3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3666744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4"/>
          <p:cNvSpPr/>
          <p:nvPr/>
        </p:nvSpPr>
        <p:spPr>
          <a:xfrm>
            <a:off x="5349240" y="3639312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High resolution for small target detection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2" name="Google Shape;292;p3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20640" y="4014216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34"/>
          <p:cNvSpPr/>
          <p:nvPr/>
        </p:nvSpPr>
        <p:spPr>
          <a:xfrm>
            <a:off x="5349240" y="3986784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Good performance in low-light conditions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4" name="Google Shape;294;p3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120640" y="4361688"/>
            <a:ext cx="182880" cy="18288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4"/>
          <p:cNvSpPr/>
          <p:nvPr/>
        </p:nvSpPr>
        <p:spPr>
          <a:xfrm>
            <a:off x="5349240" y="4334256"/>
            <a:ext cx="33375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1000"/>
              <a:buFont typeface="Calibri"/>
              <a:buNone/>
            </a:pPr>
            <a:r>
              <a:rPr lang="en" sz="1000" b="0" i="0" u="none" strike="noStrike" cap="non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Higher resolution increases compute load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4"/>
          <p:cNvSpPr/>
          <p:nvPr/>
        </p:nvSpPr>
        <p:spPr>
          <a:xfrm>
            <a:off x="457200" y="4626864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C757D"/>
              </a:buClr>
              <a:buSzPts val="900"/>
              <a:buFont typeface="Calibri"/>
              <a:buNone/>
            </a:pPr>
            <a:r>
              <a:rPr lang="en" sz="900" b="0" i="1" u="none" strike="noStrike" cap="non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Alt: IMX219 Module — viable if budget is constrained, but limited lens options</a:t>
            </a:r>
            <a:endParaRPr sz="9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34"/>
          <p:cNvSpPr/>
          <p:nvPr/>
        </p:nvSpPr>
        <p:spPr>
          <a:xfrm>
            <a:off x="274320" y="4818888"/>
            <a:ext cx="8686800" cy="3017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" sz="11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Recommended Stack: NVIDIA Jetson Orin Nano Super  +  Raspberry Pi HQ Camera  →  Paired with YOLOv11-Nano (primary) or EfficientDet-D0 (long range)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5"/>
          <p:cNvSpPr txBox="1">
            <a:spLocks noGrp="1"/>
          </p:cNvSpPr>
          <p:nvPr>
            <p:ph type="body" idx="1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6000"/>
              <a:t>MODEL TRAINING</a:t>
            </a:r>
            <a:endParaRPr sz="6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dr"/>
          <p:cNvSpPr>
            <a:spLocks noGrp="1"/>
          </p:cNvSpPr>
          <p:nvPr/>
        </p:nvSpPr>
        <p:spPr>
          <a:xfrm>
            <a:off x="0" y="0"/>
            <a:ext cx="9144000" cy="5334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HdrTitle"/>
          <p:cNvSpPr txBox="1"/>
          <p:nvPr/>
        </p:nvSpPr>
        <p:spPr>
          <a:xfrm>
            <a:off x="228600" y="50800"/>
            <a:ext cx="8686800" cy="431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libri"/>
              </a:rPr>
              <a:t>Teaching the AI to Recognize Geese</a:t>
            </a:r>
          </a:p>
        </p:txBody>
      </p:sp>
      <p:sp>
        <p:nvSpPr>
          <p:cNvPr id="12" name="LBg"/>
          <p:cNvSpPr>
            <a:spLocks noGrp="1"/>
          </p:cNvSpPr>
          <p:nvPr/>
        </p:nvSpPr>
        <p:spPr>
          <a:xfrm>
            <a:off x="228600" y="584200"/>
            <a:ext cx="4749800" cy="4038600"/>
          </a:xfrm>
          <a:prstGeom prst="rect">
            <a:avLst/>
          </a:prstGeom>
          <a:solidFill>
            <a:srgbClr val="F4F6F9"/>
          </a:solidFill>
          <a:ln w="9525">
            <a:solidFill>
              <a:srgbClr val="C5D1D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0" name="S1Acc"/>
          <p:cNvSpPr>
            <a:spLocks noGrp="1"/>
          </p:cNvSpPr>
          <p:nvPr/>
        </p:nvSpPr>
        <p:spPr>
          <a:xfrm>
            <a:off x="228600" y="711200"/>
            <a:ext cx="63500" cy="2159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S1Hdr"/>
          <p:cNvSpPr txBox="1"/>
          <p:nvPr/>
        </p:nvSpPr>
        <p:spPr>
          <a:xfrm>
            <a:off x="355600" y="711200"/>
            <a:ext cx="44958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1B6CA8"/>
                </a:solidFill>
                <a:latin typeface="Calibri"/>
              </a:rPr>
              <a:t>HOW IT WAS TRAINED</a:t>
            </a:r>
          </a:p>
        </p:txBody>
      </p:sp>
      <p:sp>
        <p:nvSpPr>
          <p:cNvPr id="22" name="B1"/>
          <p:cNvSpPr txBox="1"/>
          <p:nvPr/>
        </p:nvSpPr>
        <p:spPr>
          <a:xfrm>
            <a:off x="355600" y="9652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300" b="0" dirty="0">
                <a:solidFill>
                  <a:srgbClr val="0D1B2A"/>
                </a:solidFill>
                <a:latin typeface="Calibri"/>
              </a:rPr>
              <a:t>Gathered thousands of real goose photos and labeled each one</a:t>
            </a:r>
          </a:p>
        </p:txBody>
      </p:sp>
      <p:sp>
        <p:nvSpPr>
          <p:cNvPr id="23" name="B2"/>
          <p:cNvSpPr txBox="1"/>
          <p:nvPr/>
        </p:nvSpPr>
        <p:spPr>
          <a:xfrm>
            <a:off x="355600" y="14732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300" b="0" dirty="0">
                <a:solidFill>
                  <a:srgbClr val="0D1B2A"/>
                </a:solidFill>
                <a:latin typeface="Calibri"/>
              </a:rPr>
              <a:t>The AI studied the images in repeated rounds, correcting its own mistakes each time</a:t>
            </a:r>
          </a:p>
        </p:txBody>
      </p:sp>
      <p:sp>
        <p:nvSpPr>
          <p:cNvPr id="24" name="B3"/>
          <p:cNvSpPr txBox="1"/>
          <p:nvPr/>
        </p:nvSpPr>
        <p:spPr>
          <a:xfrm>
            <a:off x="355600" y="19812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300" b="0" dirty="0">
                <a:solidFill>
                  <a:srgbClr val="0D1B2A"/>
                </a:solidFill>
                <a:latin typeface="Calibri"/>
              </a:rPr>
              <a:t>After 50 rounds of practice, accuracy climbed from 35% to 97%</a:t>
            </a:r>
          </a:p>
        </p:txBody>
      </p:sp>
      <p:sp>
        <p:nvSpPr>
          <p:cNvPr id="25" name="Div"/>
          <p:cNvSpPr>
            <a:spLocks noGrp="1"/>
          </p:cNvSpPr>
          <p:nvPr/>
        </p:nvSpPr>
        <p:spPr>
          <a:xfrm>
            <a:off x="355600" y="2565400"/>
            <a:ext cx="4495800" cy="12700"/>
          </a:xfrm>
          <a:prstGeom prst="rect">
            <a:avLst/>
          </a:prstGeom>
          <a:solidFill>
            <a:srgbClr val="C5D1D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S2Acc"/>
          <p:cNvSpPr>
            <a:spLocks noGrp="1"/>
          </p:cNvSpPr>
          <p:nvPr/>
        </p:nvSpPr>
        <p:spPr>
          <a:xfrm>
            <a:off x="228600" y="2692400"/>
            <a:ext cx="63500" cy="215900"/>
          </a:xfrm>
          <a:prstGeom prst="rect">
            <a:avLst/>
          </a:prstGeom>
          <a:solidFill>
            <a:srgbClr val="D482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S2Hdr"/>
          <p:cNvSpPr txBox="1"/>
          <p:nvPr/>
        </p:nvSpPr>
        <p:spPr>
          <a:xfrm>
            <a:off x="355600" y="2692400"/>
            <a:ext cx="4495800" cy="2159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D4820A"/>
                </a:solidFill>
                <a:latin typeface="Calibri"/>
              </a:rPr>
              <a:t>WHAT'S NEXT</a:t>
            </a:r>
          </a:p>
        </p:txBody>
      </p:sp>
      <p:sp>
        <p:nvSpPr>
          <p:cNvPr id="32" name="BN1"/>
          <p:cNvSpPr txBox="1"/>
          <p:nvPr/>
        </p:nvSpPr>
        <p:spPr>
          <a:xfrm>
            <a:off x="355600" y="2946400"/>
            <a:ext cx="44958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300" b="0" dirty="0">
                <a:solidFill>
                  <a:srgbClr val="0D1B2A"/>
                </a:solidFill>
                <a:latin typeface="Calibri"/>
              </a:rPr>
              <a:t>Tested on a standard laptop — batches of 8 images, a deliberate low-resource starting point</a:t>
            </a:r>
          </a:p>
        </p:txBody>
      </p:sp>
      <p:sp>
        <p:nvSpPr>
          <p:cNvPr id="33" name="BN2"/>
          <p:cNvSpPr txBox="1"/>
          <p:nvPr/>
        </p:nvSpPr>
        <p:spPr>
          <a:xfrm>
            <a:off x="355600" y="3454400"/>
            <a:ext cx="4495800" cy="685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marL="177800" indent="-177800" algn="l">
              <a:spcBef>
                <a:spcPts val="0"/>
              </a:spcBef>
              <a:spcAft>
                <a:spcPts val="0"/>
              </a:spcAft>
              <a:buFont typeface="Arial"/>
              <a:buChar char="•"/>
            </a:pPr>
            <a:r>
              <a:rPr lang="en-US" sz="1300" b="1" dirty="0">
                <a:solidFill>
                  <a:srgbClr val="0D1B2A"/>
                </a:solidFill>
                <a:latin typeface="Calibri"/>
              </a:rPr>
              <a:t>Jetson Nano will deliver significantly better accuracy</a:t>
            </a:r>
            <a:r>
              <a:rPr lang="en-US" sz="1300" b="0" dirty="0">
                <a:solidFill>
                  <a:srgbClr val="0D1B2A"/>
                </a:solidFill>
                <a:latin typeface="Calibri"/>
              </a:rPr>
              <a:t> — larger batches, faster processing, and purpose-built for AI in the field</a:t>
            </a:r>
          </a:p>
        </p:txBody>
      </p:sp>
      <p:sp>
        <p:nvSpPr>
          <p:cNvPr id="40" name="RBg"/>
          <p:cNvSpPr>
            <a:spLocks noGrp="1"/>
          </p:cNvSpPr>
          <p:nvPr/>
        </p:nvSpPr>
        <p:spPr>
          <a:xfrm>
            <a:off x="5080000" y="584200"/>
            <a:ext cx="3835400" cy="4038600"/>
          </a:xfrm>
          <a:prstGeom prst="rect">
            <a:avLst/>
          </a:prstGeom>
          <a:solidFill>
            <a:srgbClr val="17304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RHdr"/>
          <p:cNvSpPr>
            <a:spLocks noGrp="1"/>
          </p:cNvSpPr>
          <p:nvPr/>
        </p:nvSpPr>
        <p:spPr>
          <a:xfrm>
            <a:off x="5080000" y="584200"/>
            <a:ext cx="3835400" cy="3556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2" name="RHdrTxt"/>
          <p:cNvSpPr txBox="1"/>
          <p:nvPr/>
        </p:nvSpPr>
        <p:spPr>
          <a:xfrm>
            <a:off x="5181600" y="635000"/>
            <a:ext cx="3632200" cy="254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THE RESULTS</a:t>
            </a:r>
          </a:p>
        </p:txBody>
      </p:sp>
      <p:sp>
        <p:nvSpPr>
          <p:cNvPr id="43" name="SC0Bg"/>
          <p:cNvSpPr>
            <a:spLocks noGrp="1"/>
          </p:cNvSpPr>
          <p:nvPr/>
        </p:nvSpPr>
        <p:spPr>
          <a:xfrm>
            <a:off x="5181600" y="1041400"/>
            <a:ext cx="3632200" cy="787400"/>
          </a:xfrm>
          <a:prstGeom prst="rect">
            <a:avLst/>
          </a:prstGeom>
          <a:solidFill>
            <a:srgbClr val="152B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4" name="SC0Acc"/>
          <p:cNvSpPr>
            <a:spLocks noGrp="1"/>
          </p:cNvSpPr>
          <p:nvPr/>
        </p:nvSpPr>
        <p:spPr>
          <a:xfrm>
            <a:off x="5181600" y="1041400"/>
            <a:ext cx="63500" cy="787400"/>
          </a:xfrm>
          <a:prstGeom prst="rect">
            <a:avLst/>
          </a:prstGeom>
          <a:solidFill>
            <a:srgbClr val="1B6C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5" name="SC0Txt"/>
          <p:cNvSpPr txBox="1"/>
          <p:nvPr/>
        </p:nvSpPr>
        <p:spPr>
          <a:xfrm>
            <a:off x="5346700" y="1104900"/>
            <a:ext cx="34163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97.1%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" b="0" dirty="0">
                <a:solidFill>
                  <a:srgbClr val="A8C8E0"/>
                </a:solidFill>
                <a:latin typeface="Calibri"/>
              </a:rPr>
              <a:t>Preliminary result — laptop test, batch size: 8</a:t>
            </a:r>
          </a:p>
        </p:txBody>
      </p:sp>
      <p:sp>
        <p:nvSpPr>
          <p:cNvPr id="46" name="SC1Bg"/>
          <p:cNvSpPr>
            <a:spLocks noGrp="1"/>
          </p:cNvSpPr>
          <p:nvPr/>
        </p:nvSpPr>
        <p:spPr>
          <a:xfrm>
            <a:off x="5181600" y="1905000"/>
            <a:ext cx="3632200" cy="787400"/>
          </a:xfrm>
          <a:prstGeom prst="rect">
            <a:avLst/>
          </a:prstGeom>
          <a:solidFill>
            <a:srgbClr val="152B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7" name="SC1Acc"/>
          <p:cNvSpPr>
            <a:spLocks noGrp="1"/>
          </p:cNvSpPr>
          <p:nvPr/>
        </p:nvSpPr>
        <p:spPr>
          <a:xfrm>
            <a:off x="5181600" y="1905000"/>
            <a:ext cx="63500" cy="78740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8" name="SC1Txt"/>
          <p:cNvSpPr txBox="1"/>
          <p:nvPr/>
        </p:nvSpPr>
        <p:spPr>
          <a:xfrm>
            <a:off x="5346700" y="1968500"/>
            <a:ext cx="34163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92.3%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C8DCEE"/>
                </a:solidFill>
                <a:latin typeface="Calibri"/>
              </a:rPr>
              <a:t>When it says goose — right 92% of the time</a:t>
            </a:r>
          </a:p>
        </p:txBody>
      </p:sp>
      <p:sp>
        <p:nvSpPr>
          <p:cNvPr id="49" name="SC2Bg"/>
          <p:cNvSpPr>
            <a:spLocks noGrp="1"/>
          </p:cNvSpPr>
          <p:nvPr/>
        </p:nvSpPr>
        <p:spPr>
          <a:xfrm>
            <a:off x="5181600" y="2768600"/>
            <a:ext cx="3632200" cy="787400"/>
          </a:xfrm>
          <a:prstGeom prst="rect">
            <a:avLst/>
          </a:prstGeom>
          <a:solidFill>
            <a:srgbClr val="152B4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" name="SC2Acc"/>
          <p:cNvSpPr>
            <a:spLocks noGrp="1"/>
          </p:cNvSpPr>
          <p:nvPr/>
        </p:nvSpPr>
        <p:spPr>
          <a:xfrm>
            <a:off x="5181600" y="2768600"/>
            <a:ext cx="63500" cy="787400"/>
          </a:xfrm>
          <a:prstGeom prst="rect">
            <a:avLst/>
          </a:prstGeom>
          <a:solidFill>
            <a:srgbClr val="D4820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1" name="SC2Txt"/>
          <p:cNvSpPr txBox="1"/>
          <p:nvPr/>
        </p:nvSpPr>
        <p:spPr>
          <a:xfrm>
            <a:off x="5346700" y="2832100"/>
            <a:ext cx="34163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12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Calibri"/>
              </a:rPr>
              <a:t>95.3%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C8DCEE"/>
                </a:solidFill>
                <a:latin typeface="Calibri"/>
              </a:rPr>
              <a:t>Finds 95 out of every 100 geese in an image</a:t>
            </a:r>
          </a:p>
        </p:txBody>
      </p:sp>
      <p:sp>
        <p:nvSpPr>
          <p:cNvPr id="55" name="Badge"/>
          <p:cNvSpPr>
            <a:spLocks noGrp="1"/>
          </p:cNvSpPr>
          <p:nvPr/>
        </p:nvSpPr>
        <p:spPr>
          <a:xfrm>
            <a:off x="5181600" y="3657600"/>
            <a:ext cx="3632200" cy="863600"/>
          </a:xfrm>
          <a:prstGeom prst="rect">
            <a:avLst/>
          </a:prstGeom>
          <a:solidFill>
            <a:srgbClr val="7B4CA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6" name="BadgeTxt"/>
          <p:cNvSpPr txBox="1"/>
          <p:nvPr/>
        </p:nvSpPr>
        <p:spPr>
          <a:xfrm>
            <a:off x="5283200" y="3733800"/>
            <a:ext cx="3429000" cy="711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8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Calibri"/>
              </a:rPr>
              <a:t>Initial Test Results</a:t>
            </a:r>
          </a:p>
          <a:p>
            <a:pPr algn="ctr"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1150" b="0" dirty="0">
                <a:solidFill>
                  <a:srgbClr val="D4BCEB"/>
                </a:solidFill>
                <a:latin typeface="Calibri"/>
              </a:rPr>
              <a:t>Laptop  •  Batch size: 8 images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FFD966"/>
                </a:solidFill>
                <a:latin typeface="Calibri"/>
              </a:rPr>
              <a:t>⚡ Jetson Nano → expect much better accuracy</a:t>
            </a:r>
          </a:p>
        </p:txBody>
      </p:sp>
      <p:sp>
        <p:nvSpPr>
          <p:cNvPr id="60" name="Ftr"/>
          <p:cNvSpPr>
            <a:spLocks noGrp="1"/>
          </p:cNvSpPr>
          <p:nvPr/>
        </p:nvSpPr>
        <p:spPr>
          <a:xfrm>
            <a:off x="0" y="4648200"/>
            <a:ext cx="9144000" cy="4953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1" name="FtrTxt"/>
          <p:cNvSpPr txBox="1"/>
          <p:nvPr/>
        </p:nvSpPr>
        <p:spPr>
          <a:xfrm>
            <a:off x="228600" y="4724400"/>
            <a:ext cx="8686800" cy="3429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dirty="0">
                <a:solidFill>
                  <a:srgbClr val="C8D8E8"/>
                </a:solidFill>
                <a:latin typeface="Calibri"/>
              </a:rPr>
              <a:t>Built with YOLOv11s — trained to detect geese accurately and reliably in real-world conditions.</a:t>
            </a:r>
          </a:p>
        </p:txBody>
      </p:sp>
    </p:spTree>
    <p:extLst>
      <p:ext uri="{BB962C8B-B14F-4D97-AF65-F5344CB8AC3E}">
        <p14:creationId xmlns:p14="http://schemas.microsoft.com/office/powerpoint/2010/main" val="21378430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dr"/>
          <p:cNvSpPr>
            <a:spLocks noGrp="1"/>
          </p:cNvSpPr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HdrT"/>
          <p:cNvSpPr txBox="1"/>
          <p:nvPr/>
        </p:nvSpPr>
        <p:spPr>
          <a:xfrm>
            <a:off x="177800" y="50800"/>
            <a:ext cx="8788400" cy="2794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/>
              </a:rPr>
              <a:t>The AI in Action</a:t>
            </a:r>
          </a:p>
        </p:txBody>
      </p:sp>
      <p:sp>
        <p:nvSpPr>
          <p:cNvPr id="20" name="IB21"/>
          <p:cNvSpPr>
            <a:spLocks noGrp="1"/>
          </p:cNvSpPr>
          <p:nvPr/>
        </p:nvSpPr>
        <p:spPr>
          <a:xfrm>
            <a:off x="3580556" y="1399758"/>
            <a:ext cx="1907483" cy="1074639"/>
          </a:xfrm>
          <a:prstGeom prst="rect">
            <a:avLst/>
          </a:prstGeom>
          <a:solidFill>
            <a:srgbClr val="B4C8DC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B22"/>
          <p:cNvSpPr>
            <a:spLocks noGrp="1"/>
          </p:cNvSpPr>
          <p:nvPr/>
        </p:nvSpPr>
        <p:spPr>
          <a:xfrm>
            <a:off x="3580558" y="2391644"/>
            <a:ext cx="1907483" cy="254000"/>
          </a:xfrm>
          <a:prstGeom prst="rect">
            <a:avLst/>
          </a:prstGeom>
          <a:solidFill>
            <a:srgbClr val="CCE8D4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2" name="CT23"/>
          <p:cNvSpPr txBox="1"/>
          <p:nvPr/>
        </p:nvSpPr>
        <p:spPr>
          <a:xfrm>
            <a:off x="3631358" y="2417044"/>
            <a:ext cx="1805883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0C361C"/>
                </a:solidFill>
                <a:latin typeface="Calibri"/>
              </a:rPr>
              <a:t>✅ Single goose detected</a:t>
            </a:r>
          </a:p>
        </p:txBody>
      </p:sp>
      <p:sp>
        <p:nvSpPr>
          <p:cNvPr id="23" name="IB24"/>
          <p:cNvSpPr>
            <a:spLocks noGrp="1"/>
          </p:cNvSpPr>
          <p:nvPr/>
        </p:nvSpPr>
        <p:spPr>
          <a:xfrm>
            <a:off x="6084303" y="838200"/>
            <a:ext cx="2824646" cy="1629449"/>
          </a:xfrm>
          <a:prstGeom prst="rect">
            <a:avLst/>
          </a:prstGeom>
          <a:solidFill>
            <a:srgbClr val="B4C8DC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B25"/>
          <p:cNvSpPr>
            <a:spLocks noGrp="1"/>
          </p:cNvSpPr>
          <p:nvPr/>
        </p:nvSpPr>
        <p:spPr>
          <a:xfrm>
            <a:off x="6084303" y="2467649"/>
            <a:ext cx="2824646" cy="254000"/>
          </a:xfrm>
          <a:prstGeom prst="rect">
            <a:avLst/>
          </a:prstGeom>
          <a:solidFill>
            <a:srgbClr val="CCE8D4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5" name="CT26"/>
          <p:cNvSpPr txBox="1"/>
          <p:nvPr/>
        </p:nvSpPr>
        <p:spPr>
          <a:xfrm>
            <a:off x="6135103" y="2493049"/>
            <a:ext cx="2723046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0C361C"/>
                </a:solidFill>
                <a:latin typeface="Calibri"/>
              </a:rPr>
              <a:t>✅ Multiple geese detected</a:t>
            </a:r>
          </a:p>
        </p:txBody>
      </p:sp>
      <p:sp>
        <p:nvSpPr>
          <p:cNvPr id="26" name="IB27"/>
          <p:cNvSpPr>
            <a:spLocks noGrp="1"/>
          </p:cNvSpPr>
          <p:nvPr/>
        </p:nvSpPr>
        <p:spPr>
          <a:xfrm>
            <a:off x="561445" y="910215"/>
            <a:ext cx="2154317" cy="1435241"/>
          </a:xfrm>
          <a:prstGeom prst="rect">
            <a:avLst/>
          </a:prstGeom>
          <a:solidFill>
            <a:srgbClr val="B4C8DC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 dirty="0"/>
          </a:p>
        </p:txBody>
      </p:sp>
      <p:sp>
        <p:nvSpPr>
          <p:cNvPr id="27" name="CB28"/>
          <p:cNvSpPr>
            <a:spLocks noGrp="1"/>
          </p:cNvSpPr>
          <p:nvPr/>
        </p:nvSpPr>
        <p:spPr>
          <a:xfrm>
            <a:off x="561449" y="2315183"/>
            <a:ext cx="2154317" cy="254000"/>
          </a:xfrm>
          <a:prstGeom prst="rect">
            <a:avLst/>
          </a:prstGeom>
          <a:solidFill>
            <a:srgbClr val="CCE8D4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8" name="CT29"/>
          <p:cNvSpPr txBox="1"/>
          <p:nvPr/>
        </p:nvSpPr>
        <p:spPr>
          <a:xfrm>
            <a:off x="561440" y="2340583"/>
            <a:ext cx="2153274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0C361C"/>
                </a:solidFill>
                <a:latin typeface="Calibri"/>
              </a:rPr>
              <a:t>✅ Geese spotted among people</a:t>
            </a:r>
          </a:p>
        </p:txBody>
      </p:sp>
      <p:sp>
        <p:nvSpPr>
          <p:cNvPr id="29" name="IB30"/>
          <p:cNvSpPr>
            <a:spLocks noGrp="1"/>
          </p:cNvSpPr>
          <p:nvPr/>
        </p:nvSpPr>
        <p:spPr>
          <a:xfrm>
            <a:off x="5854668" y="3181287"/>
            <a:ext cx="2361019" cy="1180509"/>
          </a:xfrm>
          <a:prstGeom prst="rect">
            <a:avLst/>
          </a:prstGeom>
          <a:solidFill>
            <a:srgbClr val="B4C8DC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0" name="CB31"/>
          <p:cNvSpPr>
            <a:spLocks noGrp="1"/>
          </p:cNvSpPr>
          <p:nvPr/>
        </p:nvSpPr>
        <p:spPr>
          <a:xfrm>
            <a:off x="5854667" y="4293962"/>
            <a:ext cx="2361019" cy="254000"/>
          </a:xfrm>
          <a:prstGeom prst="rect">
            <a:avLst/>
          </a:prstGeom>
          <a:solidFill>
            <a:srgbClr val="F4D8D8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1" name="CT32"/>
          <p:cNvSpPr txBox="1"/>
          <p:nvPr/>
        </p:nvSpPr>
        <p:spPr>
          <a:xfrm>
            <a:off x="5905467" y="4319362"/>
            <a:ext cx="2361019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581010"/>
                </a:solidFill>
                <a:latin typeface="Calibri"/>
              </a:rPr>
              <a:t>❌ Not a goose — correctly ignored</a:t>
            </a:r>
          </a:p>
        </p:txBody>
      </p:sp>
      <p:sp>
        <p:nvSpPr>
          <p:cNvPr id="32" name="IB33"/>
          <p:cNvSpPr>
            <a:spLocks noGrp="1"/>
          </p:cNvSpPr>
          <p:nvPr/>
        </p:nvSpPr>
        <p:spPr>
          <a:xfrm>
            <a:off x="683276" y="3168218"/>
            <a:ext cx="1373017" cy="1219347"/>
          </a:xfrm>
          <a:prstGeom prst="rect">
            <a:avLst/>
          </a:prstGeom>
          <a:solidFill>
            <a:srgbClr val="B4C8DC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3" name="CB34"/>
          <p:cNvSpPr>
            <a:spLocks noGrp="1"/>
          </p:cNvSpPr>
          <p:nvPr/>
        </p:nvSpPr>
        <p:spPr>
          <a:xfrm>
            <a:off x="683275" y="4281230"/>
            <a:ext cx="1373017" cy="254000"/>
          </a:xfrm>
          <a:prstGeom prst="rect">
            <a:avLst/>
          </a:prstGeom>
          <a:solidFill>
            <a:srgbClr val="F4D8D8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CT35"/>
          <p:cNvSpPr txBox="1"/>
          <p:nvPr/>
        </p:nvSpPr>
        <p:spPr>
          <a:xfrm>
            <a:off x="734075" y="4306630"/>
            <a:ext cx="1271417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581010"/>
                </a:solidFill>
                <a:latin typeface="Calibri"/>
              </a:rPr>
              <a:t>❌ Not a goose — correctly ignored</a:t>
            </a:r>
          </a:p>
        </p:txBody>
      </p:sp>
      <p:sp>
        <p:nvSpPr>
          <p:cNvPr id="35" name="IB36"/>
          <p:cNvSpPr>
            <a:spLocks noGrp="1"/>
          </p:cNvSpPr>
          <p:nvPr/>
        </p:nvSpPr>
        <p:spPr>
          <a:xfrm>
            <a:off x="2765523" y="3074551"/>
            <a:ext cx="2376870" cy="1194011"/>
          </a:xfrm>
          <a:prstGeom prst="rect">
            <a:avLst/>
          </a:prstGeom>
          <a:solidFill>
            <a:srgbClr val="B4C8DC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6" name="CB37"/>
          <p:cNvSpPr>
            <a:spLocks noGrp="1"/>
          </p:cNvSpPr>
          <p:nvPr/>
        </p:nvSpPr>
        <p:spPr>
          <a:xfrm>
            <a:off x="2765523" y="4268562"/>
            <a:ext cx="2376870" cy="254000"/>
          </a:xfrm>
          <a:prstGeom prst="rect">
            <a:avLst/>
          </a:prstGeom>
          <a:solidFill>
            <a:srgbClr val="F4D8D8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7" name="CT38"/>
          <p:cNvSpPr txBox="1"/>
          <p:nvPr/>
        </p:nvSpPr>
        <p:spPr>
          <a:xfrm>
            <a:off x="2816323" y="4293962"/>
            <a:ext cx="2275270" cy="203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581010"/>
                </a:solidFill>
                <a:latin typeface="Calibri"/>
              </a:rPr>
              <a:t>❌ Not a goose — correctly ignored</a:t>
            </a:r>
          </a:p>
        </p:txBody>
      </p:sp>
      <p:sp>
        <p:nvSpPr>
          <p:cNvPr id="38" name="SumBg"/>
          <p:cNvSpPr>
            <a:spLocks noGrp="1"/>
          </p:cNvSpPr>
          <p:nvPr/>
        </p:nvSpPr>
        <p:spPr>
          <a:xfrm>
            <a:off x="177800" y="4660900"/>
            <a:ext cx="8788400" cy="190500"/>
          </a:xfrm>
          <a:prstGeom prst="rect">
            <a:avLst/>
          </a:prstGeom>
          <a:solidFill>
            <a:srgbClr val="BCDAEE"/>
          </a:solidFill>
          <a:ln w="9525">
            <a:solidFill>
              <a:srgbClr val="8AAEC4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SumTxt"/>
          <p:cNvSpPr txBox="1"/>
          <p:nvPr/>
        </p:nvSpPr>
        <p:spPr>
          <a:xfrm>
            <a:off x="254000" y="4673600"/>
            <a:ext cx="8636000" cy="1651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0D1B2A"/>
                </a:solidFill>
                <a:latin typeface="Calibri"/>
              </a:rPr>
              <a:t>The model correctly identifies geese in a variety of real-world situations </a:t>
            </a:r>
            <a:r>
              <a:rPr lang="en-US" sz="1050" b="1" dirty="0">
                <a:solidFill>
                  <a:srgbClr val="0D1B2A"/>
                </a:solidFill>
                <a:latin typeface="Calibri"/>
              </a:rPr>
              <a:t>— and knows what isn’t one.</a:t>
            </a:r>
          </a:p>
        </p:txBody>
      </p:sp>
      <p:sp>
        <p:nvSpPr>
          <p:cNvPr id="40" name="Ftr"/>
          <p:cNvSpPr>
            <a:spLocks noGrp="1"/>
          </p:cNvSpPr>
          <p:nvPr/>
        </p:nvSpPr>
        <p:spPr>
          <a:xfrm>
            <a:off x="0" y="4889500"/>
            <a:ext cx="9144000" cy="254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1" name="FtrTxt"/>
          <p:cNvSpPr txBox="1"/>
          <p:nvPr/>
        </p:nvSpPr>
        <p:spPr>
          <a:xfrm>
            <a:off x="177800" y="4927600"/>
            <a:ext cx="8788400" cy="1778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50" b="0" dirty="0">
                <a:solidFill>
                  <a:srgbClr val="88AACC"/>
                </a:solidFill>
                <a:latin typeface="Calibri"/>
              </a:rPr>
              <a:t>Image examples demonstrating model detection accuracy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F99717-641E-9E96-7579-CE720D0DC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854667" y="3113452"/>
            <a:ext cx="2361020" cy="118051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628679E-5E75-F7F1-2B95-A34E0A938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84304" y="838200"/>
            <a:ext cx="2824646" cy="16294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53FC35-34FF-E7F3-78B3-6702E87E7F4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3580559" y="1317005"/>
            <a:ext cx="1907484" cy="10746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5F72560-4FD8-592D-FBE2-5241500A22E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683275" y="3061883"/>
            <a:ext cx="1373018" cy="12193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7DB71F0-EEDD-AA26-BAE0-A618333A91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/>
        </p:blipFill>
        <p:spPr>
          <a:xfrm>
            <a:off x="2765523" y="3074551"/>
            <a:ext cx="1199632" cy="119401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53636C2-8AC1-EB02-2B24-AFB9EFFB657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/>
        </p:blipFill>
        <p:spPr>
          <a:xfrm>
            <a:off x="561450" y="879942"/>
            <a:ext cx="2154317" cy="1435241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0117CE7-BFDE-09DC-C0ED-DB851485DC1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/>
        </p:blipFill>
        <p:spPr>
          <a:xfrm>
            <a:off x="4139272" y="3079476"/>
            <a:ext cx="1003122" cy="118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186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dr"/>
          <p:cNvSpPr>
            <a:spLocks noGrp="1"/>
          </p:cNvSpPr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HdrT"/>
          <p:cNvSpPr txBox="1"/>
          <p:nvPr/>
        </p:nvSpPr>
        <p:spPr>
          <a:xfrm>
            <a:off x="133350" y="38100"/>
            <a:ext cx="8877300" cy="304800"/>
          </a:xfrm>
          <a:prstGeom prst="rect">
            <a:avLst/>
          </a:prstGeom>
          <a:noFill/>
        </p:spPr>
        <p:txBody>
          <a:bodyPr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Calibri"/>
              </a:rPr>
              <a:t>Detecting Geese in Real Time</a:t>
            </a:r>
          </a:p>
        </p:txBody>
      </p:sp>
      <p:sp>
        <p:nvSpPr>
          <p:cNvPr id="20" name="VideoPH"/>
          <p:cNvSpPr>
            <a:spLocks noGrp="1"/>
          </p:cNvSpPr>
          <p:nvPr/>
        </p:nvSpPr>
        <p:spPr>
          <a:xfrm>
            <a:off x="229200" y="704850"/>
            <a:ext cx="5384200" cy="3556000"/>
          </a:xfrm>
          <a:prstGeom prst="rect">
            <a:avLst/>
          </a:prstGeom>
          <a:solidFill>
            <a:srgbClr val="1A2B3C"/>
          </a:solidFill>
          <a:ln w="19050">
            <a:solidFill>
              <a:srgbClr val="2E5C8A"/>
            </a:solidFill>
          </a:ln>
        </p:spPr>
        <p:txBody>
          <a:bodyPr anchor="ctr"/>
          <a:lstStyle/>
          <a:p>
            <a:pPr algn="ctr">
              <a:buNone/>
            </a:pPr>
            <a:r>
              <a:rPr lang="en-US" sz="1600" dirty="0">
                <a:solidFill>
                  <a:srgbClr val="88AACC"/>
                </a:solidFill>
                <a:latin typeface="Calibri"/>
              </a:rPr>
              <a:t>▶  Video Placeholder</a:t>
            </a:r>
          </a:p>
          <a:p>
            <a:pPr algn="ctr">
              <a:spcBef>
                <a:spcPts val="200"/>
              </a:spcBef>
              <a:buNone/>
            </a:pPr>
            <a:r>
              <a:rPr lang="en-US" sz="1200" dirty="0">
                <a:solidFill>
                  <a:srgbClr val="4A6A8A"/>
                </a:solidFill>
                <a:latin typeface="Calibri"/>
              </a:rPr>
              <a:t>Insert embedded video here</a:t>
            </a:r>
          </a:p>
        </p:txBody>
      </p:sp>
      <p:sp>
        <p:nvSpPr>
          <p:cNvPr id="21" name="BulletBox"/>
          <p:cNvSpPr txBox="1"/>
          <p:nvPr/>
        </p:nvSpPr>
        <p:spPr>
          <a:xfrm>
            <a:off x="5714400" y="685800"/>
            <a:ext cx="3200400" cy="3556000"/>
          </a:xfrm>
          <a:prstGeom prst="rect">
            <a:avLst/>
          </a:prstGeom>
          <a:solidFill>
            <a:srgbClr val="EBF4FA"/>
          </a:solidFill>
          <a:ln w="9525">
            <a:solidFill>
              <a:srgbClr val="BCDAEE"/>
            </a:solidFill>
          </a:ln>
        </p:spPr>
        <p:txBody>
          <a:bodyPr lIns="228600" tIns="228600" rIns="228600" bIns="228600" anchor="ctr"/>
          <a:lstStyle/>
          <a:p>
            <a:pPr marL="342900" indent="-342900" algn="l">
              <a:lnSpc>
                <a:spcPts val="1800"/>
              </a:lnSpc>
              <a:spcBef>
                <a:spcPts val="0"/>
              </a:spcBef>
              <a:spcAft>
                <a:spcPts val="700"/>
              </a:spcAft>
              <a:buClr>
                <a:srgbClr val="1E3A5C"/>
              </a:buClr>
              <a:buFont typeface="Arial" charset="0"/>
              <a:buChar char="■"/>
            </a:pPr>
            <a:r>
              <a:rPr lang="en-US" sz="1400" b="0" dirty="0">
                <a:solidFill>
                  <a:srgbClr val="0D1B2A"/>
                </a:solidFill>
                <a:latin typeface="Calibri"/>
              </a:rPr>
              <a:t>Detects and tracks geese frame by frame as they move</a:t>
            </a:r>
          </a:p>
          <a:p>
            <a:pPr marL="342900" indent="-342900" algn="l">
              <a:lnSpc>
                <a:spcPts val="1800"/>
              </a:lnSpc>
              <a:spcBef>
                <a:spcPts val="0"/>
              </a:spcBef>
              <a:spcAft>
                <a:spcPts val="700"/>
              </a:spcAft>
              <a:buClr>
                <a:srgbClr val="1E3A5C"/>
              </a:buClr>
              <a:buFont typeface="Arial" charset="0"/>
              <a:buChar char="■"/>
            </a:pPr>
            <a:r>
              <a:rPr lang="en-US" sz="1400" b="0" dirty="0">
                <a:solidFill>
                  <a:srgbClr val="0D1B2A"/>
                </a:solidFill>
                <a:latin typeface="Calibri"/>
              </a:rPr>
              <a:t>Draws a live bounding box around each goose on screen</a:t>
            </a:r>
          </a:p>
          <a:p>
            <a:pPr marL="342900" indent="-34290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Clr>
                <a:srgbClr val="1E3A5C"/>
              </a:buClr>
              <a:buFont typeface="Arial" charset="0"/>
              <a:buChar char="■"/>
            </a:pPr>
            <a:r>
              <a:rPr lang="en-US" sz="1400" b="0" dirty="0">
                <a:solidFill>
                  <a:srgbClr val="0D1B2A"/>
                </a:solidFill>
                <a:latin typeface="Calibri"/>
              </a:rPr>
              <a:t>Handles multiple geese at once without confusion</a:t>
            </a:r>
          </a:p>
        </p:txBody>
      </p:sp>
      <p:sp>
        <p:nvSpPr>
          <p:cNvPr id="38" name="SumBg"/>
          <p:cNvSpPr>
            <a:spLocks noGrp="1"/>
          </p:cNvSpPr>
          <p:nvPr/>
        </p:nvSpPr>
        <p:spPr>
          <a:xfrm>
            <a:off x="51620" y="4521200"/>
            <a:ext cx="9144000" cy="304800"/>
          </a:xfrm>
          <a:prstGeom prst="rect">
            <a:avLst/>
          </a:prstGeom>
          <a:solidFill>
            <a:srgbClr val="BCDAEE"/>
          </a:solidFill>
          <a:ln>
            <a:noFill/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dirty="0">
                <a:solidFill>
                  <a:srgbClr val="0D1B2A"/>
                </a:solidFill>
                <a:latin typeface="Calibri"/>
              </a:rPr>
              <a:t>From still images to live video </a:t>
            </a:r>
            <a:r>
              <a:rPr lang="en-US" sz="1200" b="1" dirty="0">
                <a:solidFill>
                  <a:srgbClr val="1E3A5C"/>
                </a:solidFill>
                <a:latin typeface="Calibri"/>
              </a:rPr>
              <a:t>— the AI works in real time.</a:t>
            </a:r>
          </a:p>
        </p:txBody>
      </p:sp>
      <p:sp>
        <p:nvSpPr>
          <p:cNvPr id="40" name="Ftr"/>
          <p:cNvSpPr>
            <a:spLocks noGrp="1"/>
          </p:cNvSpPr>
          <p:nvPr/>
        </p:nvSpPr>
        <p:spPr>
          <a:xfrm>
            <a:off x="0" y="4826000"/>
            <a:ext cx="9144000" cy="3175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dirty="0">
                <a:solidFill>
                  <a:srgbClr val="88AACC"/>
                </a:solidFill>
                <a:latin typeface="Calibri"/>
              </a:rPr>
              <a:t>Real-time goose detection using YOLOv11s object detection model</a:t>
            </a:r>
          </a:p>
        </p:txBody>
      </p:sp>
    </p:spTree>
    <p:extLst>
      <p:ext uri="{BB962C8B-B14F-4D97-AF65-F5344CB8AC3E}">
        <p14:creationId xmlns:p14="http://schemas.microsoft.com/office/powerpoint/2010/main" val="15749933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Hdr"/>
          <p:cNvSpPr>
            <a:spLocks noGrp="1"/>
          </p:cNvSpPr>
          <p:nvPr/>
        </p:nvSpPr>
        <p:spPr>
          <a:xfrm>
            <a:off x="0" y="0"/>
            <a:ext cx="9144000" cy="381000"/>
          </a:xfrm>
          <a:prstGeom prst="rect">
            <a:avLst/>
          </a:prstGeom>
          <a:solidFill>
            <a:srgbClr val="1E3A5C"/>
          </a:solidFill>
          <a:ln>
            <a:noFill/>
          </a:ln>
        </p:spPr>
        <p:txBody>
          <a:bodyPr lIns="127000" tIns="0" rIns="12700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Teaching the AI to Recognize Geese</a:t>
            </a:r>
          </a:p>
        </p:txBody>
      </p:sp>
      <p:sp>
        <p:nvSpPr>
          <p:cNvPr id="302" name="Ftr"/>
          <p:cNvSpPr>
            <a:spLocks noGrp="1"/>
          </p:cNvSpPr>
          <p:nvPr/>
        </p:nvSpPr>
        <p:spPr>
          <a:xfrm>
            <a:off x="0" y="4762500"/>
            <a:ext cx="9144000" cy="381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03" name="SumBg"/>
          <p:cNvSpPr>
            <a:spLocks noGrp="1"/>
          </p:cNvSpPr>
          <p:nvPr/>
        </p:nvSpPr>
        <p:spPr>
          <a:xfrm>
            <a:off x="127000" y="4483100"/>
            <a:ext cx="8890000" cy="228600"/>
          </a:xfrm>
          <a:prstGeom prst="rect">
            <a:avLst/>
          </a:prstGeom>
          <a:solidFill>
            <a:srgbClr val="A8CCDF"/>
          </a:solidFill>
          <a:ln>
            <a:noFill/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dirty="0">
                <a:solidFill>
                  <a:srgbClr val="0D1B2A"/>
                </a:solidFill>
                <a:latin typeface="Calibri"/>
              </a:rPr>
              <a:t>Data collection → labeling → iterative training → validation </a:t>
            </a:r>
            <a:r>
              <a:rPr lang="en-US" sz="1100" b="1" dirty="0">
                <a:solidFill>
                  <a:srgbClr val="1E3A5C"/>
                </a:solidFill>
                <a:latin typeface="Calibri"/>
              </a:rPr>
              <a:t>— how the model learned to spot a goose.</a:t>
            </a:r>
          </a:p>
        </p:txBody>
      </p:sp>
      <p:sp>
        <p:nvSpPr>
          <p:cNvPr id="310" name="S1Pill"/>
          <p:cNvSpPr>
            <a:spLocks noGrp="1"/>
          </p:cNvSpPr>
          <p:nvPr/>
        </p:nvSpPr>
        <p:spPr>
          <a:xfrm>
            <a:off x="127000" y="406400"/>
            <a:ext cx="2857500" cy="254000"/>
          </a:xfrm>
          <a:prstGeom prst="roundRect">
            <a:avLst>
              <a:gd name="adj" fmla="val 20000"/>
            </a:avLst>
          </a:prstGeom>
          <a:solidFill>
            <a:srgbClr val="1E3A5C"/>
          </a:solidFill>
          <a:ln>
            <a:noFill/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1 — Where the Data Came From</a:t>
            </a:r>
          </a:p>
        </p:txBody>
      </p:sp>
      <p:sp>
        <p:nvSpPr>
          <p:cNvPr id="311" name="S1Box"/>
          <p:cNvSpPr>
            <a:spLocks noGrp="1"/>
          </p:cNvSpPr>
          <p:nvPr/>
        </p:nvSpPr>
        <p:spPr>
          <a:xfrm>
            <a:off x="127000" y="685800"/>
            <a:ext cx="2857500" cy="3746500"/>
          </a:xfrm>
          <a:prstGeom prst="rect">
            <a:avLst/>
          </a:prstGeom>
          <a:solidFill>
            <a:srgbClr val="EBF4FA"/>
          </a:solidFill>
          <a:ln w="12700">
            <a:solidFill>
              <a:srgbClr val="1E3A5C"/>
            </a:solidFill>
          </a:ln>
        </p:spPr>
        <p:txBody>
          <a:bodyPr lIns="90000" tIns="90000" rIns="90000" bIns="90000"/>
          <a:lstStyle/>
          <a:p>
            <a:pPr marL="200000" indent="-200000" algn="l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Clr>
                <a:srgbClr val="1E3A5C"/>
              </a:buClr>
              <a:buFont typeface="Arial"/>
              <a:buChar char="■"/>
            </a:pPr>
            <a:r>
              <a:rPr lang="en-US" sz="1200" b="0" dirty="0">
                <a:solidFill>
                  <a:srgbClr val="0D1B2A"/>
                </a:solidFill>
                <a:latin typeface="Calibri"/>
              </a:rPr>
              <a:t>Thousands of real goose photos collected from multiple sources</a:t>
            </a:r>
          </a:p>
          <a:p>
            <a:pPr marL="200000" indent="-200000" algn="l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Clr>
                <a:srgbClr val="1E3A5C"/>
              </a:buClr>
              <a:buFont typeface="Arial"/>
              <a:buChar char="■"/>
            </a:pPr>
            <a:r>
              <a:rPr lang="en-US" sz="1200" b="0" dirty="0">
                <a:solidFill>
                  <a:srgbClr val="0D1B2A"/>
                </a:solidFill>
                <a:latin typeface="Calibri"/>
              </a:rPr>
              <a:t>Each photo manually labeled — a box drawn around every goose</a:t>
            </a:r>
          </a:p>
          <a:p>
            <a:pPr marL="200000" indent="-200000" algn="l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Clr>
                <a:srgbClr val="1E3A5C"/>
              </a:buClr>
              <a:buFont typeface="Arial"/>
              <a:buChar char="■"/>
            </a:pPr>
            <a:r>
              <a:rPr lang="en-US" sz="1200" b="0" dirty="0">
                <a:solidFill>
                  <a:srgbClr val="0D1B2A"/>
                </a:solidFill>
                <a:latin typeface="Calibri"/>
              </a:rPr>
              <a:t>Non-goose images included (people, chickens, hotdogs) so the AI learns what is </a:t>
            </a:r>
            <a:r>
              <a:rPr lang="en-US" sz="1200" b="1" dirty="0">
                <a:solidFill>
                  <a:srgbClr val="1E3A5C"/>
                </a:solidFill>
                <a:latin typeface="Calibri"/>
              </a:rPr>
              <a:t>NOT</a:t>
            </a:r>
            <a:r>
              <a:rPr lang="en-US" sz="1200" b="0" dirty="0">
                <a:solidFill>
                  <a:srgbClr val="0D1B2A"/>
                </a:solidFill>
                <a:latin typeface="Calibri"/>
              </a:rPr>
              <a:t> a goose</a:t>
            </a:r>
          </a:p>
          <a:p>
            <a:pPr marL="200000" indent="-200000" algn="l">
              <a:lnSpc>
                <a:spcPts val="15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1E3A5C"/>
                </a:solidFill>
                <a:latin typeface="Calibri"/>
              </a:rPr>
              <a:t>Why this matters:</a:t>
            </a:r>
          </a:p>
          <a:p>
            <a:pPr marL="200000" indent="-20000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1A3550"/>
                </a:solidFill>
                <a:latin typeface="Calibri"/>
              </a:rPr>
              <a:t>A model only trained on geese will flag everything as a goose. Showing it other objects teaches it the difference.</a:t>
            </a:r>
          </a:p>
        </p:txBody>
      </p:sp>
      <p:sp>
        <p:nvSpPr>
          <p:cNvPr id="320" name="S2Pill"/>
          <p:cNvSpPr>
            <a:spLocks noGrp="1"/>
          </p:cNvSpPr>
          <p:nvPr/>
        </p:nvSpPr>
        <p:spPr>
          <a:xfrm>
            <a:off x="3111500" y="406400"/>
            <a:ext cx="2857500" cy="254000"/>
          </a:xfrm>
          <a:prstGeom prst="roundRect">
            <a:avLst>
              <a:gd name="adj" fmla="val 20000"/>
            </a:avLst>
          </a:prstGeom>
          <a:solidFill>
            <a:srgbClr val="1E6E5C"/>
          </a:solidFill>
          <a:ln>
            <a:noFill/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2 — How Training Worked</a:t>
            </a:r>
          </a:p>
        </p:txBody>
      </p:sp>
      <p:sp>
        <p:nvSpPr>
          <p:cNvPr id="321" name="Step1"/>
          <p:cNvSpPr>
            <a:spLocks noGrp="1"/>
          </p:cNvSpPr>
          <p:nvPr/>
        </p:nvSpPr>
        <p:spPr>
          <a:xfrm>
            <a:off x="3111500" y="685800"/>
            <a:ext cx="2857500" cy="711200"/>
          </a:xfrm>
          <a:prstGeom prst="rect">
            <a:avLst/>
          </a:prstGeom>
          <a:solidFill>
            <a:srgbClr val="D6EFE8"/>
          </a:solidFill>
          <a:ln w="12700">
            <a:solidFill>
              <a:srgbClr val="1E6E5C"/>
            </a:solidFill>
          </a:ln>
        </p:spPr>
        <p:txBody>
          <a:bodyPr lIns="90000" tIns="60000" rIns="90000" bIns="6000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E6E5C"/>
                </a:solidFill>
                <a:latin typeface="Calibri"/>
              </a:rPr>
              <a:t>Step 1 — </a:t>
            </a:r>
            <a:r>
              <a:rPr lang="en-US" sz="1200" b="0" dirty="0">
                <a:solidFill>
                  <a:srgbClr val="0D1B2A"/>
                </a:solidFill>
                <a:latin typeface="Calibri"/>
              </a:rPr>
              <a:t>AI looks at a labeled image and makes a guess</a:t>
            </a:r>
          </a:p>
        </p:txBody>
      </p:sp>
      <p:sp>
        <p:nvSpPr>
          <p:cNvPr id="322" name="Arr1"/>
          <p:cNvSpPr>
            <a:spLocks noGrp="1"/>
          </p:cNvSpPr>
          <p:nvPr/>
        </p:nvSpPr>
        <p:spPr>
          <a:xfrm>
            <a:off x="3886200" y="1422400"/>
            <a:ext cx="1308100" cy="139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6E5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3" name="Step2"/>
          <p:cNvSpPr>
            <a:spLocks noGrp="1"/>
          </p:cNvSpPr>
          <p:nvPr/>
        </p:nvSpPr>
        <p:spPr>
          <a:xfrm>
            <a:off x="3111500" y="1587500"/>
            <a:ext cx="2857500" cy="711200"/>
          </a:xfrm>
          <a:prstGeom prst="rect">
            <a:avLst/>
          </a:prstGeom>
          <a:solidFill>
            <a:srgbClr val="D6EFE8"/>
          </a:solidFill>
          <a:ln w="12700">
            <a:solidFill>
              <a:srgbClr val="1E6E5C"/>
            </a:solidFill>
          </a:ln>
        </p:spPr>
        <p:txBody>
          <a:bodyPr lIns="90000" tIns="60000" rIns="90000" bIns="6000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E6E5C"/>
                </a:solidFill>
                <a:latin typeface="Calibri"/>
              </a:rPr>
              <a:t>Step 2 — </a:t>
            </a:r>
            <a:r>
              <a:rPr lang="en-US" sz="1200" b="0" dirty="0">
                <a:solidFill>
                  <a:srgbClr val="0D1B2A"/>
                </a:solidFill>
                <a:latin typeface="Calibri"/>
              </a:rPr>
              <a:t>It checks how wrong it was and adjusts itself</a:t>
            </a:r>
          </a:p>
        </p:txBody>
      </p:sp>
      <p:sp>
        <p:nvSpPr>
          <p:cNvPr id="324" name="Arr2"/>
          <p:cNvSpPr>
            <a:spLocks noGrp="1"/>
          </p:cNvSpPr>
          <p:nvPr/>
        </p:nvSpPr>
        <p:spPr>
          <a:xfrm>
            <a:off x="3886200" y="2324100"/>
            <a:ext cx="1308100" cy="1397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1E6E5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325" name="Step3"/>
          <p:cNvSpPr>
            <a:spLocks noGrp="1"/>
          </p:cNvSpPr>
          <p:nvPr/>
        </p:nvSpPr>
        <p:spPr>
          <a:xfrm>
            <a:off x="3111500" y="2489200"/>
            <a:ext cx="2857500" cy="711200"/>
          </a:xfrm>
          <a:prstGeom prst="rect">
            <a:avLst/>
          </a:prstGeom>
          <a:solidFill>
            <a:srgbClr val="D6EFE8"/>
          </a:solidFill>
          <a:ln w="12700">
            <a:solidFill>
              <a:srgbClr val="1E6E5C"/>
            </a:solidFill>
          </a:ln>
        </p:spPr>
        <p:txBody>
          <a:bodyPr lIns="90000" tIns="60000" rIns="90000" bIns="60000" anchor="ctr"/>
          <a:lstStyle/>
          <a:p>
            <a:pPr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rgbClr val="1E6E5C"/>
                </a:solidFill>
                <a:latin typeface="Calibri"/>
              </a:rPr>
              <a:t>Step 3 — </a:t>
            </a:r>
            <a:r>
              <a:rPr lang="en-US" sz="1200" b="0" dirty="0">
                <a:solidFill>
                  <a:srgbClr val="0D1B2A"/>
                </a:solidFill>
                <a:latin typeface="Calibri"/>
              </a:rPr>
              <a:t>Repeated 50 times across the whole dataset (50 epochs)</a:t>
            </a:r>
          </a:p>
        </p:txBody>
      </p:sp>
      <p:sp>
        <p:nvSpPr>
          <p:cNvPr id="326" name="EpochNote"/>
          <p:cNvSpPr>
            <a:spLocks noGrp="1"/>
          </p:cNvSpPr>
          <p:nvPr/>
        </p:nvSpPr>
        <p:spPr>
          <a:xfrm>
            <a:off x="3111500" y="3327400"/>
            <a:ext cx="2857500" cy="1104900"/>
          </a:xfrm>
          <a:prstGeom prst="roundRect">
            <a:avLst>
              <a:gd name="adj" fmla="val 15000"/>
            </a:avLst>
          </a:prstGeom>
          <a:solidFill>
            <a:srgbClr val="1E6E5C"/>
          </a:solidFill>
          <a:ln>
            <a:noFill/>
          </a:ln>
        </p:spPr>
        <p:txBody>
          <a:bodyPr lIns="90000" tIns="60000" rIns="90000" bIns="60000" anchor="ctr"/>
          <a:lstStyle/>
          <a:p>
            <a:pPr algn="ctr"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FFFFFF"/>
                </a:solidFill>
                <a:latin typeface="Calibri"/>
              </a:rPr>
              <a:t>What is an epoch?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C8E6DE"/>
                </a:solidFill>
                <a:latin typeface="Calibri"/>
              </a:rPr>
              <a:t>One full pass through all training images — like one complete study session</a:t>
            </a:r>
          </a:p>
        </p:txBody>
      </p:sp>
      <p:sp>
        <p:nvSpPr>
          <p:cNvPr id="330" name="S3Pill"/>
          <p:cNvSpPr>
            <a:spLocks noGrp="1"/>
          </p:cNvSpPr>
          <p:nvPr/>
        </p:nvSpPr>
        <p:spPr>
          <a:xfrm>
            <a:off x="6096000" y="406400"/>
            <a:ext cx="2921000" cy="254000"/>
          </a:xfrm>
          <a:prstGeom prst="roundRect">
            <a:avLst>
              <a:gd name="adj" fmla="val 20000"/>
            </a:avLst>
          </a:prstGeom>
          <a:solidFill>
            <a:srgbClr val="5C3A1E"/>
          </a:solidFill>
          <a:ln>
            <a:noFill/>
          </a:ln>
        </p:spPr>
        <p:txBody>
          <a:bodyPr anchor="ctr"/>
          <a:lstStyle/>
          <a:p>
            <a:pPr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3 — How We Verified It Worked</a:t>
            </a:r>
          </a:p>
        </p:txBody>
      </p:sp>
      <p:sp>
        <p:nvSpPr>
          <p:cNvPr id="331" name="S3Box"/>
          <p:cNvSpPr>
            <a:spLocks noGrp="1"/>
          </p:cNvSpPr>
          <p:nvPr/>
        </p:nvSpPr>
        <p:spPr>
          <a:xfrm>
            <a:off x="6096000" y="685800"/>
            <a:ext cx="2921000" cy="3746500"/>
          </a:xfrm>
          <a:prstGeom prst="rect">
            <a:avLst/>
          </a:prstGeom>
          <a:solidFill>
            <a:srgbClr val="FAF0EB"/>
          </a:solidFill>
          <a:ln w="12700">
            <a:solidFill>
              <a:srgbClr val="5C3A1E"/>
            </a:solidFill>
          </a:ln>
        </p:spPr>
        <p:txBody>
          <a:bodyPr lIns="90000" tIns="90000" rIns="90000" bIns="90000"/>
          <a:lstStyle/>
          <a:p>
            <a:pPr marL="200000" indent="-200000" algn="l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Clr>
                <a:srgbClr val="5C3A1E"/>
              </a:buClr>
              <a:buFont typeface="Arial"/>
              <a:buChar char="■"/>
            </a:pPr>
            <a:r>
              <a:rPr lang="en-US" sz="1200" b="0" dirty="0">
                <a:solidFill>
                  <a:srgbClr val="0D1B2A"/>
                </a:solidFill>
                <a:latin typeface="Calibri"/>
              </a:rPr>
              <a:t>Tested on images the model had never seen before</a:t>
            </a:r>
          </a:p>
          <a:p>
            <a:pPr marL="200000" indent="-200000" algn="l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Clr>
                <a:srgbClr val="5C3A1E"/>
              </a:buClr>
              <a:buFont typeface="Arial"/>
              <a:buChar char="■"/>
            </a:pPr>
            <a:r>
              <a:rPr lang="en-US" sz="1200" b="1" dirty="0">
                <a:solidFill>
                  <a:srgbClr val="5C3A1E"/>
                </a:solidFill>
                <a:latin typeface="Calibri"/>
              </a:rPr>
              <a:t>Recall: </a:t>
            </a:r>
            <a:r>
              <a:rPr lang="en-US" sz="1200" b="0" dirty="0">
                <a:solidFill>
                  <a:srgbClr val="0D1B2A"/>
                </a:solidFill>
                <a:latin typeface="Calibri"/>
              </a:rPr>
              <a:t>how often it correctly found geese</a:t>
            </a:r>
          </a:p>
          <a:p>
            <a:pPr marL="200000" indent="-200000" algn="l">
              <a:lnSpc>
                <a:spcPts val="1500"/>
              </a:lnSpc>
              <a:spcBef>
                <a:spcPts val="0"/>
              </a:spcBef>
              <a:spcAft>
                <a:spcPts val="800"/>
              </a:spcAft>
              <a:buClr>
                <a:srgbClr val="5C3A1E"/>
              </a:buClr>
              <a:buFont typeface="Arial"/>
              <a:buChar char="■"/>
            </a:pPr>
            <a:r>
              <a:rPr lang="en-US" sz="1200" b="1" dirty="0">
                <a:solidFill>
                  <a:srgbClr val="5C3A1E"/>
                </a:solidFill>
                <a:latin typeface="Calibri"/>
              </a:rPr>
              <a:t>Precision: </a:t>
            </a:r>
            <a:r>
              <a:rPr lang="en-US" sz="1200" b="0" dirty="0">
                <a:solidFill>
                  <a:srgbClr val="0D1B2A"/>
                </a:solidFill>
                <a:latin typeface="Calibri"/>
              </a:rPr>
              <a:t>how often detections were actually geese</a:t>
            </a:r>
          </a:p>
          <a:p>
            <a:pPr marL="200000" indent="-200000"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buClr>
                <a:srgbClr val="5C3A1E"/>
              </a:buClr>
              <a:buFont typeface="Arial"/>
              <a:buChar char="■"/>
            </a:pPr>
            <a:r>
              <a:rPr lang="en-US" sz="1200" b="0" dirty="0">
                <a:solidFill>
                  <a:srgbClr val="0D1B2A"/>
                </a:solidFill>
                <a:latin typeface="Calibri"/>
              </a:rPr>
              <a:t>Final results validated against a held-out test set, separate from training data</a:t>
            </a:r>
          </a:p>
        </p:txBody>
      </p:sp>
    </p:spTree>
    <p:extLst>
      <p:ext uri="{BB962C8B-B14F-4D97-AF65-F5344CB8AC3E}">
        <p14:creationId xmlns:p14="http://schemas.microsoft.com/office/powerpoint/2010/main" val="27526039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BC0FD-E734-6F8F-6D31-52583460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352057-3AA7-5881-E5F8-36F87D21F6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38218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YC Slides">
  <a:themeElements>
    <a:clrScheme name="Simple Light">
      <a:dk1>
        <a:srgbClr val="FFFFFF"/>
      </a:dk1>
      <a:lt1>
        <a:srgbClr val="FFFFFF"/>
      </a:lt1>
      <a:dk2>
        <a:srgbClr val="FFFFFF"/>
      </a:dk2>
      <a:lt2>
        <a:srgbClr val="FFFFFF"/>
      </a:lt2>
      <a:accent1>
        <a:srgbClr val="D17359"/>
      </a:accent1>
      <a:accent2>
        <a:srgbClr val="243861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D1735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6C17BFB-F9EA-45C6-B62B-FABD50B776F3}">
  <we:reference id="WA200010001" version="1.0.0.0" store="Omex" storeType="OMEX"/>
  <we:alternateReferences>
    <we:reference id="WA200010001" version="1.0.0.0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1050</Words>
  <Application>Microsoft Office PowerPoint</Application>
  <PresentationFormat>On-screen Show (16:9)</PresentationFormat>
  <Paragraphs>139</Paragraphs>
  <Slides>14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Alegreya</vt:lpstr>
      <vt:lpstr>Alegreya Sans</vt:lpstr>
      <vt:lpstr>Calibri</vt:lpstr>
      <vt:lpstr>Montserrat</vt:lpstr>
      <vt:lpstr>Simple Light</vt:lpstr>
      <vt:lpstr>CYC Slides</vt:lpstr>
      <vt:lpstr>Office Theme</vt:lpstr>
      <vt:lpstr>Fruition Technologies</vt:lpstr>
      <vt:lpstr>Project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Edward Vardges Ter-Hovhannisyan</cp:lastModifiedBy>
  <cp:revision>3</cp:revision>
  <dcterms:modified xsi:type="dcterms:W3CDTF">2026-03-12T03:17:48Z</dcterms:modified>
</cp:coreProperties>
</file>